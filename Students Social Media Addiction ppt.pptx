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mo Bold" charset="1" panose="020B0704020202020204"/>
      <p:regular r:id="rId17"/>
    </p:embeddedFont>
    <p:embeddedFont>
      <p:font typeface="Arimo" charset="1" panose="020B0604020202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 Id="rId4" Target="../media/image2.jpeg" Type="http://schemas.openxmlformats.org/officeDocument/2006/relationships/image"/><Relationship Id="rId5" Target="../media/image8.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 Id="rId4" Target="../media/image9.jpeg" Type="http://schemas.openxmlformats.org/officeDocument/2006/relationships/image"/><Relationship Id="rId5" Target="../media/image2.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10.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 Id="rId4" Target="../media/image2.jpe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 Id="rId4" Target="../media/image2.jpeg" Type="http://schemas.openxmlformats.org/officeDocument/2006/relationships/image"/><Relationship Id="rId5" Target="../media/image11.jpe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 Id="rId4" Target="../media/image2.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 Id="rId4" Target="../media/image2.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 Id="rId4" Target="../media/image2.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jpeg" Type="http://schemas.openxmlformats.org/officeDocument/2006/relationships/image"/><Relationship Id="rId3" Target="../media/image3.jpeg" Type="http://schemas.openxmlformats.org/officeDocument/2006/relationships/image"/><Relationship Id="rId4" Target="../media/image2.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438815" y="3278249"/>
            <a:ext cx="14056436" cy="1994638"/>
          </a:xfrm>
          <a:prstGeom prst="rect">
            <a:avLst/>
          </a:prstGeom>
        </p:spPr>
        <p:txBody>
          <a:bodyPr anchor="t" rtlCol="false" tIns="0" lIns="0" bIns="0" rIns="0">
            <a:spAutoFit/>
          </a:bodyPr>
          <a:lstStyle/>
          <a:p>
            <a:pPr algn="l">
              <a:lnSpc>
                <a:spcPts val="7389"/>
              </a:lnSpc>
            </a:pPr>
            <a:r>
              <a:rPr lang="en-US" b="true" sz="8592" spc="-292">
                <a:solidFill>
                  <a:srgbClr val="000000"/>
                </a:solidFill>
                <a:latin typeface="Arimo Bold"/>
                <a:ea typeface="Arimo Bold"/>
                <a:cs typeface="Arimo Bold"/>
                <a:sym typeface="Arimo Bold"/>
              </a:rPr>
              <a:t>STUDENTS </a:t>
            </a:r>
            <a:r>
              <a:rPr lang="en-US" b="true" sz="8592" spc="-292">
                <a:solidFill>
                  <a:srgbClr val="000000"/>
                </a:solidFill>
                <a:latin typeface="Arimo Bold"/>
                <a:ea typeface="Arimo Bold"/>
                <a:cs typeface="Arimo Bold"/>
                <a:sym typeface="Arimo Bold"/>
              </a:rPr>
              <a:t>SOCIAL MEDIA</a:t>
            </a:r>
          </a:p>
          <a:p>
            <a:pPr algn="l" marL="0" indent="0" lvl="0">
              <a:lnSpc>
                <a:spcPts val="7389"/>
              </a:lnSpc>
            </a:pPr>
            <a:r>
              <a:rPr lang="en-US" b="true" sz="8592" spc="-292">
                <a:solidFill>
                  <a:srgbClr val="000000"/>
                </a:solidFill>
                <a:latin typeface="Arimo Bold"/>
                <a:ea typeface="Arimo Bold"/>
                <a:cs typeface="Arimo Bold"/>
                <a:sym typeface="Arimo Bold"/>
              </a:rPr>
              <a:t>      </a:t>
            </a:r>
            <a:r>
              <a:rPr lang="en-US" b="true" sz="8592" spc="-292">
                <a:solidFill>
                  <a:srgbClr val="000000"/>
                </a:solidFill>
                <a:latin typeface="Arimo Bold"/>
                <a:ea typeface="Arimo Bold"/>
                <a:cs typeface="Arimo Bold"/>
                <a:sym typeface="Arimo Bold"/>
              </a:rPr>
              <a:t> ADDICTION ANALYSIS</a:t>
            </a:r>
          </a:p>
        </p:txBody>
      </p:sp>
      <p:sp>
        <p:nvSpPr>
          <p:cNvPr name="Freeform 4" id="4"/>
          <p:cNvSpPr/>
          <p:nvPr/>
        </p:nvSpPr>
        <p:spPr>
          <a:xfrm flipH="false" flipV="false" rot="8710776">
            <a:off x="13420648" y="-4171140"/>
            <a:ext cx="6482503" cy="12137995"/>
          </a:xfrm>
          <a:custGeom>
            <a:avLst/>
            <a:gdLst/>
            <a:ahLst/>
            <a:cxnLst/>
            <a:rect r="r" b="b" t="t" l="l"/>
            <a:pathLst>
              <a:path h="12137995" w="6482503">
                <a:moveTo>
                  <a:pt x="0" y="0"/>
                </a:moveTo>
                <a:lnTo>
                  <a:pt x="6482503" y="0"/>
                </a:lnTo>
                <a:lnTo>
                  <a:pt x="6482503" y="12137995"/>
                </a:lnTo>
                <a:lnTo>
                  <a:pt x="0" y="12137995"/>
                </a:lnTo>
                <a:lnTo>
                  <a:pt x="0" y="0"/>
                </a:lnTo>
                <a:close/>
              </a:path>
            </a:pathLst>
          </a:custGeom>
          <a:blipFill>
            <a:blip r:embed="rId3"/>
            <a:stretch>
              <a:fillRect l="-75757" t="-11036" r="-136298" b="0"/>
            </a:stretch>
          </a:blipFill>
        </p:spPr>
      </p:sp>
      <p:sp>
        <p:nvSpPr>
          <p:cNvPr name="AutoShape 5" id="5"/>
          <p:cNvSpPr/>
          <p:nvPr/>
        </p:nvSpPr>
        <p:spPr>
          <a:xfrm>
            <a:off x="4206006" y="9951238"/>
            <a:ext cx="11860287"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3895007">
            <a:off x="10171711" y="3022455"/>
            <a:ext cx="14556500" cy="5521740"/>
          </a:xfrm>
          <a:custGeom>
            <a:avLst/>
            <a:gdLst/>
            <a:ahLst/>
            <a:cxnLst/>
            <a:rect r="r" b="b" t="t" l="l"/>
            <a:pathLst>
              <a:path h="5521740" w="14556500">
                <a:moveTo>
                  <a:pt x="0" y="0"/>
                </a:moveTo>
                <a:lnTo>
                  <a:pt x="14556501" y="0"/>
                </a:lnTo>
                <a:lnTo>
                  <a:pt x="14556501" y="5521740"/>
                </a:lnTo>
                <a:lnTo>
                  <a:pt x="0" y="5521740"/>
                </a:lnTo>
                <a:lnTo>
                  <a:pt x="0" y="0"/>
                </a:lnTo>
                <a:close/>
              </a:path>
            </a:pathLst>
          </a:custGeom>
          <a:blipFill>
            <a:blip r:embed="rId4"/>
            <a:stretch>
              <a:fillRect l="-15816" t="-76575" r="0" b="-26843"/>
            </a:stretch>
          </a:blipFill>
        </p:spPr>
      </p:sp>
      <p:grpSp>
        <p:nvGrpSpPr>
          <p:cNvPr name="Group 7" id="7"/>
          <p:cNvGrpSpPr/>
          <p:nvPr/>
        </p:nvGrpSpPr>
        <p:grpSpPr>
          <a:xfrm rot="0">
            <a:off x="201386" y="6090138"/>
            <a:ext cx="3908120" cy="905858"/>
            <a:chOff x="0" y="0"/>
            <a:chExt cx="1173369" cy="271974"/>
          </a:xfrm>
        </p:grpSpPr>
        <p:sp>
          <p:nvSpPr>
            <p:cNvPr name="Freeform 8" id="8"/>
            <p:cNvSpPr/>
            <p:nvPr/>
          </p:nvSpPr>
          <p:spPr>
            <a:xfrm flipH="false" flipV="false" rot="0">
              <a:off x="0" y="0"/>
              <a:ext cx="1173369" cy="271974"/>
            </a:xfrm>
            <a:custGeom>
              <a:avLst/>
              <a:gdLst/>
              <a:ahLst/>
              <a:cxnLst/>
              <a:rect r="r" b="b" t="t" l="l"/>
              <a:pathLst>
                <a:path h="271974" w="1173369">
                  <a:moveTo>
                    <a:pt x="15848" y="0"/>
                  </a:moveTo>
                  <a:lnTo>
                    <a:pt x="1157521" y="0"/>
                  </a:lnTo>
                  <a:cubicBezTo>
                    <a:pt x="1166273" y="0"/>
                    <a:pt x="1173369" y="7095"/>
                    <a:pt x="1173369" y="15848"/>
                  </a:cubicBezTo>
                  <a:lnTo>
                    <a:pt x="1173369" y="256126"/>
                  </a:lnTo>
                  <a:cubicBezTo>
                    <a:pt x="1173369" y="264878"/>
                    <a:pt x="1166273" y="271974"/>
                    <a:pt x="1157521" y="271974"/>
                  </a:cubicBezTo>
                  <a:lnTo>
                    <a:pt x="15848" y="271974"/>
                  </a:lnTo>
                  <a:cubicBezTo>
                    <a:pt x="7095" y="271974"/>
                    <a:pt x="0" y="264878"/>
                    <a:pt x="0" y="256126"/>
                  </a:cubicBezTo>
                  <a:lnTo>
                    <a:pt x="0" y="15848"/>
                  </a:lnTo>
                  <a:cubicBezTo>
                    <a:pt x="0" y="7095"/>
                    <a:pt x="7095" y="0"/>
                    <a:pt x="15848" y="0"/>
                  </a:cubicBezTo>
                  <a:close/>
                </a:path>
              </a:pathLst>
            </a:custGeom>
            <a:solidFill>
              <a:srgbClr val="2B3033"/>
            </a:solidFill>
          </p:spPr>
        </p:sp>
        <p:sp>
          <p:nvSpPr>
            <p:cNvPr name="TextBox 9" id="9"/>
            <p:cNvSpPr txBox="true"/>
            <p:nvPr/>
          </p:nvSpPr>
          <p:spPr>
            <a:xfrm>
              <a:off x="0" y="-19050"/>
              <a:ext cx="1173369" cy="291024"/>
            </a:xfrm>
            <a:prstGeom prst="rect">
              <a:avLst/>
            </a:prstGeom>
          </p:spPr>
          <p:txBody>
            <a:bodyPr anchor="ctr" rtlCol="false" tIns="8462" lIns="8462" bIns="8462" rIns="8462"/>
            <a:lstStyle/>
            <a:p>
              <a:pPr algn="ctr">
                <a:lnSpc>
                  <a:spcPts val="428"/>
                </a:lnSpc>
              </a:pPr>
            </a:p>
          </p:txBody>
        </p:sp>
      </p:grpSp>
      <p:sp>
        <p:nvSpPr>
          <p:cNvPr name="TextBox 10" id="10"/>
          <p:cNvSpPr txBox="true"/>
          <p:nvPr/>
        </p:nvSpPr>
        <p:spPr>
          <a:xfrm rot="0">
            <a:off x="250085" y="6201074"/>
            <a:ext cx="3810721" cy="598260"/>
          </a:xfrm>
          <a:prstGeom prst="rect">
            <a:avLst/>
          </a:prstGeom>
        </p:spPr>
        <p:txBody>
          <a:bodyPr anchor="t" rtlCol="false" tIns="0" lIns="0" bIns="0" rIns="0">
            <a:spAutoFit/>
          </a:bodyPr>
          <a:lstStyle/>
          <a:p>
            <a:pPr algn="ctr">
              <a:lnSpc>
                <a:spcPts val="4725"/>
              </a:lnSpc>
            </a:pPr>
            <a:r>
              <a:rPr lang="en-US" b="true" sz="3375">
                <a:solidFill>
                  <a:srgbClr val="FFFFFF"/>
                </a:solidFill>
                <a:latin typeface="Arimo Bold"/>
                <a:ea typeface="Arimo Bold"/>
                <a:cs typeface="Arimo Bold"/>
                <a:sym typeface="Arimo Bold"/>
              </a:rPr>
              <a:t>Presented By</a:t>
            </a:r>
          </a:p>
        </p:txBody>
      </p:sp>
      <p:sp>
        <p:nvSpPr>
          <p:cNvPr name="TextBox 11" id="11"/>
          <p:cNvSpPr txBox="true"/>
          <p:nvPr/>
        </p:nvSpPr>
        <p:spPr>
          <a:xfrm rot="0">
            <a:off x="1028700" y="6941528"/>
            <a:ext cx="4442652" cy="3521694"/>
          </a:xfrm>
          <a:prstGeom prst="rect">
            <a:avLst/>
          </a:prstGeom>
        </p:spPr>
        <p:txBody>
          <a:bodyPr anchor="t" rtlCol="false" tIns="0" lIns="0" bIns="0" rIns="0">
            <a:spAutoFit/>
          </a:bodyPr>
          <a:lstStyle/>
          <a:p>
            <a:pPr algn="l">
              <a:lnSpc>
                <a:spcPts val="3956"/>
              </a:lnSpc>
            </a:pPr>
            <a:r>
              <a:rPr lang="en-US" b="true" sz="2826" strike="noStrike" u="none">
                <a:solidFill>
                  <a:srgbClr val="000000"/>
                </a:solidFill>
                <a:latin typeface="Arimo Bold"/>
                <a:ea typeface="Arimo Bold"/>
                <a:cs typeface="Arimo Bold"/>
                <a:sym typeface="Arimo Bold"/>
              </a:rPr>
              <a:t>Asutosh Khatua</a:t>
            </a:r>
          </a:p>
          <a:p>
            <a:pPr algn="l">
              <a:lnSpc>
                <a:spcPts val="3956"/>
              </a:lnSpc>
            </a:pPr>
            <a:r>
              <a:rPr lang="en-US" b="true" sz="2826" strike="noStrike" u="none">
                <a:solidFill>
                  <a:srgbClr val="000000"/>
                </a:solidFill>
                <a:latin typeface="Arimo Bold"/>
                <a:ea typeface="Arimo Bold"/>
                <a:cs typeface="Arimo Bold"/>
                <a:sym typeface="Arimo Bold"/>
              </a:rPr>
              <a:t>Ankita Mitra</a:t>
            </a:r>
          </a:p>
          <a:p>
            <a:pPr algn="l">
              <a:lnSpc>
                <a:spcPts val="3956"/>
              </a:lnSpc>
            </a:pPr>
            <a:r>
              <a:rPr lang="en-US" b="true" sz="2826" strike="noStrike" u="none">
                <a:solidFill>
                  <a:srgbClr val="000000"/>
                </a:solidFill>
                <a:latin typeface="Arimo Bold"/>
                <a:ea typeface="Arimo Bold"/>
                <a:cs typeface="Arimo Bold"/>
                <a:sym typeface="Arimo Bold"/>
              </a:rPr>
              <a:t>Abhilash Prasad Sahoo</a:t>
            </a:r>
          </a:p>
          <a:p>
            <a:pPr algn="l">
              <a:lnSpc>
                <a:spcPts val="3956"/>
              </a:lnSpc>
            </a:pPr>
            <a:r>
              <a:rPr lang="en-US" b="true" sz="2826" strike="noStrike" u="none">
                <a:solidFill>
                  <a:srgbClr val="000000"/>
                </a:solidFill>
                <a:latin typeface="Arimo Bold"/>
                <a:ea typeface="Arimo Bold"/>
                <a:cs typeface="Arimo Bold"/>
                <a:sym typeface="Arimo Bold"/>
              </a:rPr>
              <a:t>Simran Sahoo</a:t>
            </a:r>
          </a:p>
          <a:p>
            <a:pPr algn="l">
              <a:lnSpc>
                <a:spcPts val="3956"/>
              </a:lnSpc>
            </a:pPr>
            <a:r>
              <a:rPr lang="en-US" b="true" sz="2826" strike="noStrike" u="none">
                <a:solidFill>
                  <a:srgbClr val="000000"/>
                </a:solidFill>
                <a:latin typeface="Arimo Bold"/>
                <a:ea typeface="Arimo Bold"/>
                <a:cs typeface="Arimo Bold"/>
                <a:sym typeface="Arimo Bold"/>
              </a:rPr>
              <a:t>Hitesh Kumar Rout</a:t>
            </a:r>
          </a:p>
          <a:p>
            <a:pPr algn="l">
              <a:lnSpc>
                <a:spcPts val="3956"/>
              </a:lnSpc>
            </a:pPr>
            <a:r>
              <a:rPr lang="en-US" b="true" sz="2826" strike="noStrike" u="none">
                <a:solidFill>
                  <a:srgbClr val="000000"/>
                </a:solidFill>
                <a:latin typeface="Arimo Bold"/>
                <a:ea typeface="Arimo Bold"/>
                <a:cs typeface="Arimo Bold"/>
                <a:sym typeface="Arimo Bold"/>
              </a:rPr>
              <a:t>Swetalana Parida</a:t>
            </a:r>
          </a:p>
          <a:p>
            <a:pPr algn="l">
              <a:lnSpc>
                <a:spcPts val="3956"/>
              </a:lnSpc>
            </a:pPr>
          </a:p>
        </p:txBody>
      </p:sp>
      <p:grpSp>
        <p:nvGrpSpPr>
          <p:cNvPr name="Group 12" id="12"/>
          <p:cNvGrpSpPr/>
          <p:nvPr/>
        </p:nvGrpSpPr>
        <p:grpSpPr>
          <a:xfrm rot="0">
            <a:off x="935344" y="1751201"/>
            <a:ext cx="4536008" cy="947918"/>
            <a:chOff x="0" y="0"/>
            <a:chExt cx="1194669" cy="249658"/>
          </a:xfrm>
        </p:grpSpPr>
        <p:sp>
          <p:nvSpPr>
            <p:cNvPr name="Freeform 13" id="13"/>
            <p:cNvSpPr/>
            <p:nvPr/>
          </p:nvSpPr>
          <p:spPr>
            <a:xfrm flipH="false" flipV="false" rot="0">
              <a:off x="0" y="0"/>
              <a:ext cx="1194669" cy="249658"/>
            </a:xfrm>
            <a:custGeom>
              <a:avLst/>
              <a:gdLst/>
              <a:ahLst/>
              <a:cxnLst/>
              <a:rect r="r" b="b" t="t" l="l"/>
              <a:pathLst>
                <a:path h="249658" w="1194669">
                  <a:moveTo>
                    <a:pt x="0" y="0"/>
                  </a:moveTo>
                  <a:lnTo>
                    <a:pt x="1194669" y="0"/>
                  </a:lnTo>
                  <a:lnTo>
                    <a:pt x="1194669" y="249658"/>
                  </a:lnTo>
                  <a:lnTo>
                    <a:pt x="0" y="249658"/>
                  </a:lnTo>
                  <a:close/>
                </a:path>
              </a:pathLst>
            </a:custGeom>
            <a:solidFill>
              <a:srgbClr val="0B84CE"/>
            </a:solidFill>
          </p:spPr>
        </p:sp>
        <p:sp>
          <p:nvSpPr>
            <p:cNvPr name="TextBox 14" id="14"/>
            <p:cNvSpPr txBox="true"/>
            <p:nvPr/>
          </p:nvSpPr>
          <p:spPr>
            <a:xfrm>
              <a:off x="0" y="-47625"/>
              <a:ext cx="1194669" cy="297283"/>
            </a:xfrm>
            <a:prstGeom prst="rect">
              <a:avLst/>
            </a:prstGeom>
          </p:spPr>
          <p:txBody>
            <a:bodyPr anchor="ctr" rtlCol="false" tIns="50800" lIns="50800" bIns="50800" rIns="50800"/>
            <a:lstStyle/>
            <a:p>
              <a:pPr algn="ctr">
                <a:lnSpc>
                  <a:spcPts val="2800"/>
                </a:lnSpc>
              </a:pPr>
            </a:p>
          </p:txBody>
        </p:sp>
      </p:grpSp>
      <p:sp>
        <p:nvSpPr>
          <p:cNvPr name="TextBox 15" id="15"/>
          <p:cNvSpPr txBox="true"/>
          <p:nvPr/>
        </p:nvSpPr>
        <p:spPr>
          <a:xfrm rot="0">
            <a:off x="917630" y="2075051"/>
            <a:ext cx="4692744" cy="479497"/>
          </a:xfrm>
          <a:prstGeom prst="rect">
            <a:avLst/>
          </a:prstGeom>
        </p:spPr>
        <p:txBody>
          <a:bodyPr anchor="t" rtlCol="false" tIns="0" lIns="0" bIns="0" rIns="0">
            <a:spAutoFit/>
          </a:bodyPr>
          <a:lstStyle/>
          <a:p>
            <a:pPr algn="l">
              <a:lnSpc>
                <a:spcPts val="2643"/>
              </a:lnSpc>
            </a:pPr>
            <a:r>
              <a:rPr lang="en-US" sz="5286" spc="-179">
                <a:solidFill>
                  <a:srgbClr val="FAF6F6"/>
                </a:solidFill>
                <a:latin typeface="Arimo"/>
                <a:ea typeface="Arimo"/>
                <a:cs typeface="Arimo"/>
                <a:sym typeface="Arimo"/>
              </a:rPr>
              <a:t>Presentation On</a:t>
            </a:r>
          </a:p>
        </p:txBody>
      </p:sp>
      <p:sp>
        <p:nvSpPr>
          <p:cNvPr name="Freeform 16" id="16"/>
          <p:cNvSpPr/>
          <p:nvPr/>
        </p:nvSpPr>
        <p:spPr>
          <a:xfrm flipH="false" flipV="false" rot="590801">
            <a:off x="5744927" y="941379"/>
            <a:ext cx="1791129" cy="1616494"/>
          </a:xfrm>
          <a:custGeom>
            <a:avLst/>
            <a:gdLst/>
            <a:ahLst/>
            <a:cxnLst/>
            <a:rect r="r" b="b" t="t" l="l"/>
            <a:pathLst>
              <a:path h="1616494" w="1791129">
                <a:moveTo>
                  <a:pt x="0" y="0"/>
                </a:moveTo>
                <a:lnTo>
                  <a:pt x="1791130" y="0"/>
                </a:lnTo>
                <a:lnTo>
                  <a:pt x="1791130" y="1616494"/>
                </a:lnTo>
                <a:lnTo>
                  <a:pt x="0" y="1616494"/>
                </a:lnTo>
                <a:lnTo>
                  <a:pt x="0" y="0"/>
                </a:lnTo>
                <a:close/>
              </a:path>
            </a:pathLst>
          </a:custGeom>
          <a:blipFill>
            <a:blip r:embed="rId5">
              <a:alphaModFix amt="14000"/>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7" id="17"/>
          <p:cNvSpPr/>
          <p:nvPr/>
        </p:nvSpPr>
        <p:spPr>
          <a:xfrm flipH="false" flipV="false" rot="-304013">
            <a:off x="10192376" y="7424114"/>
            <a:ext cx="2192427" cy="1370267"/>
          </a:xfrm>
          <a:custGeom>
            <a:avLst/>
            <a:gdLst/>
            <a:ahLst/>
            <a:cxnLst/>
            <a:rect r="r" b="b" t="t" l="l"/>
            <a:pathLst>
              <a:path h="1370267" w="2192427">
                <a:moveTo>
                  <a:pt x="0" y="0"/>
                </a:moveTo>
                <a:lnTo>
                  <a:pt x="2192427" y="0"/>
                </a:lnTo>
                <a:lnTo>
                  <a:pt x="2192427" y="1370268"/>
                </a:lnTo>
                <a:lnTo>
                  <a:pt x="0" y="1370268"/>
                </a:lnTo>
                <a:lnTo>
                  <a:pt x="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2497634"/>
            <a:ext cx="8707337" cy="1011563"/>
          </a:xfrm>
          <a:prstGeom prst="rect">
            <a:avLst/>
          </a:prstGeom>
        </p:spPr>
        <p:txBody>
          <a:bodyPr anchor="t" rtlCol="false" tIns="0" lIns="0" bIns="0" rIns="0">
            <a:spAutoFit/>
          </a:bodyPr>
          <a:lstStyle/>
          <a:p>
            <a:pPr algn="l" marL="0" indent="0" lvl="0">
              <a:lnSpc>
                <a:spcPts val="7083"/>
              </a:lnSpc>
              <a:spcBef>
                <a:spcPct val="0"/>
              </a:spcBef>
            </a:pPr>
            <a:r>
              <a:rPr lang="en-US" b="true" sz="8236" spc="-280">
                <a:solidFill>
                  <a:srgbClr val="000000"/>
                </a:solidFill>
                <a:latin typeface="Arimo Bold"/>
                <a:ea typeface="Arimo Bold"/>
                <a:cs typeface="Arimo Bold"/>
                <a:sym typeface="Arimo Bold"/>
              </a:rPr>
              <a:t>INTRODUCTION</a:t>
            </a:r>
          </a:p>
        </p:txBody>
      </p:sp>
      <p:sp>
        <p:nvSpPr>
          <p:cNvPr name="TextBox 4" id="4"/>
          <p:cNvSpPr txBox="true"/>
          <p:nvPr/>
        </p:nvSpPr>
        <p:spPr>
          <a:xfrm rot="0">
            <a:off x="226555" y="3861622"/>
            <a:ext cx="8917445" cy="5075215"/>
          </a:xfrm>
          <a:prstGeom prst="rect">
            <a:avLst/>
          </a:prstGeom>
        </p:spPr>
        <p:txBody>
          <a:bodyPr anchor="t" rtlCol="false" tIns="0" lIns="0" bIns="0" rIns="0">
            <a:spAutoFit/>
          </a:bodyPr>
          <a:lstStyle/>
          <a:p>
            <a:pPr algn="just">
              <a:lnSpc>
                <a:spcPts val="3328"/>
              </a:lnSpc>
            </a:pPr>
            <a:r>
              <a:rPr lang="en-US" sz="3262" spc="-110">
                <a:solidFill>
                  <a:srgbClr val="353238"/>
                </a:solidFill>
                <a:latin typeface="Arimo"/>
                <a:ea typeface="Arimo"/>
                <a:cs typeface="Arimo"/>
                <a:sym typeface="Arimo"/>
              </a:rPr>
              <a:t>Students’ social media addiction is a growing concern that affects academics, mental health, and social life. By analyzing usage patterns and engagement, researchers can understand how excessive use impacts focus and well-being.</a:t>
            </a:r>
          </a:p>
          <a:p>
            <a:pPr algn="just">
              <a:lnSpc>
                <a:spcPts val="3328"/>
              </a:lnSpc>
            </a:pPr>
          </a:p>
          <a:p>
            <a:pPr algn="just">
              <a:lnSpc>
                <a:spcPts val="3328"/>
              </a:lnSpc>
            </a:pPr>
          </a:p>
          <a:p>
            <a:pPr algn="just">
              <a:lnSpc>
                <a:spcPts val="3328"/>
              </a:lnSpc>
            </a:pPr>
            <a:r>
              <a:rPr lang="en-US" sz="3262" spc="-110">
                <a:solidFill>
                  <a:srgbClr val="353238"/>
                </a:solidFill>
                <a:latin typeface="Arimo"/>
                <a:ea typeface="Arimo"/>
                <a:cs typeface="Arimo"/>
                <a:sym typeface="Arimo"/>
              </a:rPr>
              <a:t>This analysis helps uncover trends that guide educators, policymakers, and mental health experts to design awareness programs, digital detox plans, and support systems for healthier online habits.</a:t>
            </a:r>
          </a:p>
          <a:p>
            <a:pPr algn="just">
              <a:lnSpc>
                <a:spcPts val="3328"/>
              </a:lnSpc>
            </a:pPr>
          </a:p>
        </p:txBody>
      </p:sp>
      <p:sp>
        <p:nvSpPr>
          <p:cNvPr name="Freeform 5" id="5"/>
          <p:cNvSpPr/>
          <p:nvPr/>
        </p:nvSpPr>
        <p:spPr>
          <a:xfrm flipH="false" flipV="false" rot="-3895007">
            <a:off x="13283641" y="5085903"/>
            <a:ext cx="11772082" cy="5521740"/>
          </a:xfrm>
          <a:custGeom>
            <a:avLst/>
            <a:gdLst/>
            <a:ahLst/>
            <a:cxnLst/>
            <a:rect r="r" b="b" t="t" l="l"/>
            <a:pathLst>
              <a:path h="5521740" w="11772082">
                <a:moveTo>
                  <a:pt x="0" y="0"/>
                </a:moveTo>
                <a:lnTo>
                  <a:pt x="11772082" y="0"/>
                </a:lnTo>
                <a:lnTo>
                  <a:pt x="11772082" y="5521740"/>
                </a:lnTo>
                <a:lnTo>
                  <a:pt x="0" y="5521740"/>
                </a:lnTo>
                <a:lnTo>
                  <a:pt x="0" y="0"/>
                </a:lnTo>
                <a:close/>
              </a:path>
            </a:pathLst>
          </a:custGeom>
          <a:blipFill>
            <a:blip r:embed="rId3"/>
            <a:stretch>
              <a:fillRect l="-15816" t="-52363" r="0" b="-12144"/>
            </a:stretch>
          </a:blipFill>
        </p:spPr>
      </p:sp>
      <p:sp>
        <p:nvSpPr>
          <p:cNvPr name="Freeform 6" id="6"/>
          <p:cNvSpPr/>
          <p:nvPr/>
        </p:nvSpPr>
        <p:spPr>
          <a:xfrm flipH="false" flipV="false" rot="2933024">
            <a:off x="-360362" y="-1981531"/>
            <a:ext cx="2155401" cy="5648203"/>
          </a:xfrm>
          <a:custGeom>
            <a:avLst/>
            <a:gdLst/>
            <a:ahLst/>
            <a:cxnLst/>
            <a:rect r="r" b="b" t="t" l="l"/>
            <a:pathLst>
              <a:path h="5648203" w="2155401">
                <a:moveTo>
                  <a:pt x="0" y="0"/>
                </a:moveTo>
                <a:lnTo>
                  <a:pt x="2155401" y="0"/>
                </a:lnTo>
                <a:lnTo>
                  <a:pt x="2155401" y="5648203"/>
                </a:lnTo>
                <a:lnTo>
                  <a:pt x="0" y="5648203"/>
                </a:lnTo>
                <a:lnTo>
                  <a:pt x="0" y="0"/>
                </a:lnTo>
                <a:close/>
              </a:path>
            </a:pathLst>
          </a:custGeom>
          <a:blipFill>
            <a:blip r:embed="rId4"/>
            <a:stretch>
              <a:fillRect l="-145976" t="-11036" r="-190751" b="0"/>
            </a:stretch>
          </a:blipFill>
        </p:spPr>
      </p:sp>
      <p:sp>
        <p:nvSpPr>
          <p:cNvPr name="Freeform 7" id="7"/>
          <p:cNvSpPr/>
          <p:nvPr/>
        </p:nvSpPr>
        <p:spPr>
          <a:xfrm flipH="false" flipV="false" rot="0">
            <a:off x="9505861" y="1531390"/>
            <a:ext cx="9663821" cy="7224220"/>
          </a:xfrm>
          <a:custGeom>
            <a:avLst/>
            <a:gdLst/>
            <a:ahLst/>
            <a:cxnLst/>
            <a:rect r="r" b="b" t="t" l="l"/>
            <a:pathLst>
              <a:path h="7224220" w="9663821">
                <a:moveTo>
                  <a:pt x="0" y="0"/>
                </a:moveTo>
                <a:lnTo>
                  <a:pt x="9663821" y="0"/>
                </a:lnTo>
                <a:lnTo>
                  <a:pt x="9663821" y="7224220"/>
                </a:lnTo>
                <a:lnTo>
                  <a:pt x="0" y="7224220"/>
                </a:lnTo>
                <a:lnTo>
                  <a:pt x="0" y="0"/>
                </a:lnTo>
                <a:close/>
              </a:path>
            </a:pathLst>
          </a:custGeom>
          <a:blipFill>
            <a:blip r:embed="rId5"/>
            <a:stretch>
              <a:fillRect l="-17957" t="0" r="0" b="0"/>
            </a:stretch>
          </a:blipFill>
        </p:spPr>
      </p:sp>
      <p:sp>
        <p:nvSpPr>
          <p:cNvPr name="Freeform 8" id="8"/>
          <p:cNvSpPr/>
          <p:nvPr/>
        </p:nvSpPr>
        <p:spPr>
          <a:xfrm flipH="false" flipV="false" rot="-304013">
            <a:off x="7330880" y="255771"/>
            <a:ext cx="3486814" cy="2179259"/>
          </a:xfrm>
          <a:custGeom>
            <a:avLst/>
            <a:gdLst/>
            <a:ahLst/>
            <a:cxnLst/>
            <a:rect r="r" b="b" t="t" l="l"/>
            <a:pathLst>
              <a:path h="2179259" w="3486814">
                <a:moveTo>
                  <a:pt x="0" y="0"/>
                </a:moveTo>
                <a:lnTo>
                  <a:pt x="3486815" y="0"/>
                </a:lnTo>
                <a:lnTo>
                  <a:pt x="3486815" y="2179258"/>
                </a:lnTo>
                <a:lnTo>
                  <a:pt x="0" y="2179258"/>
                </a:lnTo>
                <a:lnTo>
                  <a:pt x="0" y="0"/>
                </a:lnTo>
                <a:close/>
              </a:path>
            </a:pathLst>
          </a:custGeom>
          <a:blipFill>
            <a:blip r:embed="rId6">
              <a:alphaModFix amt="14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4888848"/>
            <a:ext cx="7427810" cy="2374244"/>
          </a:xfrm>
          <a:prstGeom prst="rect">
            <a:avLst/>
          </a:prstGeom>
        </p:spPr>
        <p:txBody>
          <a:bodyPr anchor="t" rtlCol="false" tIns="0" lIns="0" bIns="0" rIns="0">
            <a:spAutoFit/>
          </a:bodyPr>
          <a:lstStyle/>
          <a:p>
            <a:pPr algn="just">
              <a:lnSpc>
                <a:spcPts val="3087"/>
              </a:lnSpc>
            </a:pPr>
            <a:r>
              <a:rPr lang="en-US" sz="3026" spc="-102">
                <a:solidFill>
                  <a:srgbClr val="353238"/>
                </a:solidFill>
                <a:latin typeface="Arimo"/>
                <a:ea typeface="Arimo"/>
                <a:cs typeface="Arimo"/>
                <a:sym typeface="Arimo"/>
              </a:rPr>
              <a:t>The dataset includes detailed information about each student’s social media usage, such as daily screen time, time of usage, platforms accessed, and the type of content consumed. This metadata is essential for categorizing and analyzing online behavior.</a:t>
            </a:r>
          </a:p>
        </p:txBody>
      </p:sp>
      <p:sp>
        <p:nvSpPr>
          <p:cNvPr name="TextBox 4" id="4"/>
          <p:cNvSpPr txBox="true"/>
          <p:nvPr/>
        </p:nvSpPr>
        <p:spPr>
          <a:xfrm rot="0">
            <a:off x="1283623" y="2552213"/>
            <a:ext cx="7451449" cy="1310042"/>
          </a:xfrm>
          <a:prstGeom prst="rect">
            <a:avLst/>
          </a:prstGeom>
        </p:spPr>
        <p:txBody>
          <a:bodyPr anchor="t" rtlCol="false" tIns="0" lIns="0" bIns="0" rIns="0">
            <a:spAutoFit/>
          </a:bodyPr>
          <a:lstStyle/>
          <a:p>
            <a:pPr algn="l" marL="0" indent="0" lvl="0">
              <a:lnSpc>
                <a:spcPts val="9140"/>
              </a:lnSpc>
              <a:spcBef>
                <a:spcPct val="0"/>
              </a:spcBef>
            </a:pPr>
            <a:r>
              <a:rPr lang="en-US" b="true" sz="10628" spc="-361">
                <a:solidFill>
                  <a:srgbClr val="000000"/>
                </a:solidFill>
                <a:latin typeface="Arimo Bold"/>
                <a:ea typeface="Arimo Bold"/>
                <a:cs typeface="Arimo Bold"/>
                <a:sym typeface="Arimo Bold"/>
              </a:rPr>
              <a:t> OVERVIEW</a:t>
            </a:r>
          </a:p>
        </p:txBody>
      </p:sp>
      <p:sp>
        <p:nvSpPr>
          <p:cNvPr name="Freeform 5" id="5"/>
          <p:cNvSpPr/>
          <p:nvPr/>
        </p:nvSpPr>
        <p:spPr>
          <a:xfrm flipH="false" flipV="false" rot="-4192651">
            <a:off x="9943650" y="2449852"/>
            <a:ext cx="13558531" cy="6960754"/>
          </a:xfrm>
          <a:custGeom>
            <a:avLst/>
            <a:gdLst/>
            <a:ahLst/>
            <a:cxnLst/>
            <a:rect r="r" b="b" t="t" l="l"/>
            <a:pathLst>
              <a:path h="6960754" w="13558531">
                <a:moveTo>
                  <a:pt x="0" y="0"/>
                </a:moveTo>
                <a:lnTo>
                  <a:pt x="13558532" y="0"/>
                </a:lnTo>
                <a:lnTo>
                  <a:pt x="13558532" y="6960754"/>
                </a:lnTo>
                <a:lnTo>
                  <a:pt x="0" y="6960754"/>
                </a:lnTo>
                <a:lnTo>
                  <a:pt x="0" y="0"/>
                </a:lnTo>
                <a:close/>
              </a:path>
            </a:pathLst>
          </a:custGeom>
          <a:blipFill>
            <a:blip r:embed="rId3"/>
            <a:stretch>
              <a:fillRect l="-6830" t="-46692" r="-6204" b="0"/>
            </a:stretch>
          </a:blipFill>
        </p:spPr>
      </p:sp>
      <p:sp>
        <p:nvSpPr>
          <p:cNvPr name="Freeform 6" id="6"/>
          <p:cNvSpPr/>
          <p:nvPr/>
        </p:nvSpPr>
        <p:spPr>
          <a:xfrm flipH="false" flipV="false" rot="0">
            <a:off x="9127357" y="1028700"/>
            <a:ext cx="8131943" cy="7644096"/>
          </a:xfrm>
          <a:custGeom>
            <a:avLst/>
            <a:gdLst/>
            <a:ahLst/>
            <a:cxnLst/>
            <a:rect r="r" b="b" t="t" l="l"/>
            <a:pathLst>
              <a:path h="7644096" w="8131943">
                <a:moveTo>
                  <a:pt x="0" y="0"/>
                </a:moveTo>
                <a:lnTo>
                  <a:pt x="8131943" y="0"/>
                </a:lnTo>
                <a:lnTo>
                  <a:pt x="8131943" y="7644096"/>
                </a:lnTo>
                <a:lnTo>
                  <a:pt x="0" y="7644096"/>
                </a:lnTo>
                <a:lnTo>
                  <a:pt x="0" y="0"/>
                </a:lnTo>
                <a:close/>
              </a:path>
            </a:pathLst>
          </a:custGeom>
          <a:blipFill>
            <a:blip r:embed="rId4"/>
            <a:stretch>
              <a:fillRect l="0" t="0" r="-41354" b="0"/>
            </a:stretch>
          </a:blipFill>
        </p:spPr>
      </p:sp>
      <p:sp>
        <p:nvSpPr>
          <p:cNvPr name="Freeform 7" id="7"/>
          <p:cNvSpPr/>
          <p:nvPr/>
        </p:nvSpPr>
        <p:spPr>
          <a:xfrm flipH="false" flipV="false" rot="2933024">
            <a:off x="-360362" y="-2140845"/>
            <a:ext cx="2155401" cy="5648203"/>
          </a:xfrm>
          <a:custGeom>
            <a:avLst/>
            <a:gdLst/>
            <a:ahLst/>
            <a:cxnLst/>
            <a:rect r="r" b="b" t="t" l="l"/>
            <a:pathLst>
              <a:path h="5648203" w="2155401">
                <a:moveTo>
                  <a:pt x="0" y="0"/>
                </a:moveTo>
                <a:lnTo>
                  <a:pt x="2155401" y="0"/>
                </a:lnTo>
                <a:lnTo>
                  <a:pt x="2155401" y="5648202"/>
                </a:lnTo>
                <a:lnTo>
                  <a:pt x="0" y="5648202"/>
                </a:lnTo>
                <a:lnTo>
                  <a:pt x="0" y="0"/>
                </a:lnTo>
                <a:close/>
              </a:path>
            </a:pathLst>
          </a:custGeom>
          <a:blipFill>
            <a:blip r:embed="rId5"/>
            <a:stretch>
              <a:fillRect l="-145976" t="-11036" r="-190751" b="0"/>
            </a:stretch>
          </a:blipFill>
        </p:spPr>
      </p:sp>
      <p:sp>
        <p:nvSpPr>
          <p:cNvPr name="Freeform 8" id="8"/>
          <p:cNvSpPr/>
          <p:nvPr/>
        </p:nvSpPr>
        <p:spPr>
          <a:xfrm flipH="false" flipV="false" rot="-304013">
            <a:off x="7638859" y="7812944"/>
            <a:ext cx="2192427" cy="1370267"/>
          </a:xfrm>
          <a:custGeom>
            <a:avLst/>
            <a:gdLst/>
            <a:ahLst/>
            <a:cxnLst/>
            <a:rect r="r" b="b" t="t" l="l"/>
            <a:pathLst>
              <a:path h="1370267" w="2192427">
                <a:moveTo>
                  <a:pt x="0" y="0"/>
                </a:moveTo>
                <a:lnTo>
                  <a:pt x="2192427" y="0"/>
                </a:lnTo>
                <a:lnTo>
                  <a:pt x="2192427" y="1370267"/>
                </a:lnTo>
                <a:lnTo>
                  <a:pt x="0" y="1370267"/>
                </a:lnTo>
                <a:lnTo>
                  <a:pt x="0" y="0"/>
                </a:lnTo>
                <a:close/>
              </a:path>
            </a:pathLst>
          </a:custGeom>
          <a:blipFill>
            <a:blip r:embed="rId6">
              <a:alphaModFix amt="14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2933024">
            <a:off x="-360362" y="-2140845"/>
            <a:ext cx="2155401" cy="5648203"/>
          </a:xfrm>
          <a:custGeom>
            <a:avLst/>
            <a:gdLst/>
            <a:ahLst/>
            <a:cxnLst/>
            <a:rect r="r" b="b" t="t" l="l"/>
            <a:pathLst>
              <a:path h="5648203" w="2155401">
                <a:moveTo>
                  <a:pt x="0" y="0"/>
                </a:moveTo>
                <a:lnTo>
                  <a:pt x="2155401" y="0"/>
                </a:lnTo>
                <a:lnTo>
                  <a:pt x="2155401" y="5648202"/>
                </a:lnTo>
                <a:lnTo>
                  <a:pt x="0" y="5648202"/>
                </a:lnTo>
                <a:lnTo>
                  <a:pt x="0" y="0"/>
                </a:lnTo>
                <a:close/>
              </a:path>
            </a:pathLst>
          </a:custGeom>
          <a:blipFill>
            <a:blip r:embed="rId3"/>
            <a:stretch>
              <a:fillRect l="-145976" t="-11036" r="-190751" b="0"/>
            </a:stretch>
          </a:blipFill>
        </p:spPr>
      </p:sp>
      <p:sp>
        <p:nvSpPr>
          <p:cNvPr name="Freeform 4" id="4"/>
          <p:cNvSpPr/>
          <p:nvPr/>
        </p:nvSpPr>
        <p:spPr>
          <a:xfrm flipH="false" flipV="false" rot="-5400000">
            <a:off x="14134129" y="2161971"/>
            <a:ext cx="11772082" cy="5521740"/>
          </a:xfrm>
          <a:custGeom>
            <a:avLst/>
            <a:gdLst/>
            <a:ahLst/>
            <a:cxnLst/>
            <a:rect r="r" b="b" t="t" l="l"/>
            <a:pathLst>
              <a:path h="5521740" w="11772082">
                <a:moveTo>
                  <a:pt x="0" y="0"/>
                </a:moveTo>
                <a:lnTo>
                  <a:pt x="11772082" y="0"/>
                </a:lnTo>
                <a:lnTo>
                  <a:pt x="11772082" y="5521740"/>
                </a:lnTo>
                <a:lnTo>
                  <a:pt x="0" y="5521740"/>
                </a:lnTo>
                <a:lnTo>
                  <a:pt x="0" y="0"/>
                </a:lnTo>
                <a:close/>
              </a:path>
            </a:pathLst>
          </a:custGeom>
          <a:blipFill>
            <a:blip r:embed="rId4"/>
            <a:stretch>
              <a:fillRect l="-15816" t="-52363" r="0" b="-12144"/>
            </a:stretch>
          </a:blipFill>
        </p:spPr>
      </p:sp>
      <p:sp>
        <p:nvSpPr>
          <p:cNvPr name="Freeform 5" id="5"/>
          <p:cNvSpPr/>
          <p:nvPr/>
        </p:nvSpPr>
        <p:spPr>
          <a:xfrm flipH="false" flipV="false" rot="0">
            <a:off x="8784485" y="1028700"/>
            <a:ext cx="8193535" cy="8229600"/>
          </a:xfrm>
          <a:custGeom>
            <a:avLst/>
            <a:gdLst/>
            <a:ahLst/>
            <a:cxnLst/>
            <a:rect r="r" b="b" t="t" l="l"/>
            <a:pathLst>
              <a:path h="8229600" w="8193535">
                <a:moveTo>
                  <a:pt x="0" y="0"/>
                </a:moveTo>
                <a:lnTo>
                  <a:pt x="8193535" y="0"/>
                </a:lnTo>
                <a:lnTo>
                  <a:pt x="8193535" y="8229600"/>
                </a:lnTo>
                <a:lnTo>
                  <a:pt x="0" y="8229600"/>
                </a:lnTo>
                <a:lnTo>
                  <a:pt x="0" y="0"/>
                </a:lnTo>
                <a:close/>
              </a:path>
            </a:pathLst>
          </a:custGeom>
          <a:blipFill>
            <a:blip r:embed="rId5"/>
            <a:stretch>
              <a:fillRect l="-26490" t="0" r="-24264" b="0"/>
            </a:stretch>
          </a:blipFill>
        </p:spPr>
      </p:sp>
      <p:sp>
        <p:nvSpPr>
          <p:cNvPr name="TextBox 6" id="6"/>
          <p:cNvSpPr txBox="true"/>
          <p:nvPr/>
        </p:nvSpPr>
        <p:spPr>
          <a:xfrm rot="0">
            <a:off x="1420516" y="1810843"/>
            <a:ext cx="8352998" cy="1045991"/>
          </a:xfrm>
          <a:prstGeom prst="rect">
            <a:avLst/>
          </a:prstGeom>
        </p:spPr>
        <p:txBody>
          <a:bodyPr anchor="t" rtlCol="false" tIns="0" lIns="0" bIns="0" rIns="0">
            <a:spAutoFit/>
          </a:bodyPr>
          <a:lstStyle/>
          <a:p>
            <a:pPr algn="l" marL="0" indent="0" lvl="0">
              <a:lnSpc>
                <a:spcPts val="7200"/>
              </a:lnSpc>
              <a:spcBef>
                <a:spcPct val="0"/>
              </a:spcBef>
            </a:pPr>
            <a:r>
              <a:rPr lang="en-US" b="true" sz="8373" spc="-284">
                <a:solidFill>
                  <a:srgbClr val="000000"/>
                </a:solidFill>
                <a:latin typeface="Arimo Bold"/>
                <a:ea typeface="Arimo Bold"/>
                <a:cs typeface="Arimo Bold"/>
                <a:sym typeface="Arimo Bold"/>
              </a:rPr>
              <a:t>ADV</a:t>
            </a:r>
            <a:r>
              <a:rPr lang="en-US" b="true" sz="8373" spc="-284">
                <a:solidFill>
                  <a:srgbClr val="000000"/>
                </a:solidFill>
                <a:latin typeface="Arimo Bold"/>
                <a:ea typeface="Arimo Bold"/>
                <a:cs typeface="Arimo Bold"/>
                <a:sym typeface="Arimo Bold"/>
              </a:rPr>
              <a:t>antages</a:t>
            </a:r>
          </a:p>
        </p:txBody>
      </p:sp>
      <p:grpSp>
        <p:nvGrpSpPr>
          <p:cNvPr name="Group 7" id="7"/>
          <p:cNvGrpSpPr/>
          <p:nvPr/>
        </p:nvGrpSpPr>
        <p:grpSpPr>
          <a:xfrm rot="0">
            <a:off x="512372" y="3063848"/>
            <a:ext cx="7986363" cy="2304328"/>
            <a:chOff x="0" y="0"/>
            <a:chExt cx="1916729" cy="553039"/>
          </a:xfrm>
        </p:grpSpPr>
        <p:sp>
          <p:nvSpPr>
            <p:cNvPr name="Freeform 8" id="8"/>
            <p:cNvSpPr/>
            <p:nvPr/>
          </p:nvSpPr>
          <p:spPr>
            <a:xfrm flipH="false" flipV="false" rot="0">
              <a:off x="0" y="0"/>
              <a:ext cx="1916729" cy="553039"/>
            </a:xfrm>
            <a:custGeom>
              <a:avLst/>
              <a:gdLst/>
              <a:ahLst/>
              <a:cxnLst/>
              <a:rect r="r" b="b" t="t" l="l"/>
              <a:pathLst>
                <a:path h="553039" w="1916729">
                  <a:moveTo>
                    <a:pt x="0" y="0"/>
                  </a:moveTo>
                  <a:lnTo>
                    <a:pt x="1916729" y="0"/>
                  </a:lnTo>
                  <a:lnTo>
                    <a:pt x="1916729" y="553039"/>
                  </a:lnTo>
                  <a:lnTo>
                    <a:pt x="0" y="553039"/>
                  </a:lnTo>
                  <a:close/>
                </a:path>
              </a:pathLst>
            </a:custGeom>
            <a:solidFill>
              <a:srgbClr val="0B84CE"/>
            </a:solidFill>
          </p:spPr>
        </p:sp>
        <p:sp>
          <p:nvSpPr>
            <p:cNvPr name="TextBox 9" id="9"/>
            <p:cNvSpPr txBox="true"/>
            <p:nvPr/>
          </p:nvSpPr>
          <p:spPr>
            <a:xfrm>
              <a:off x="0" y="-47625"/>
              <a:ext cx="1916729" cy="600664"/>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483797" y="6034926"/>
            <a:ext cx="7899245" cy="2304328"/>
            <a:chOff x="0" y="0"/>
            <a:chExt cx="1895821" cy="553039"/>
          </a:xfrm>
        </p:grpSpPr>
        <p:sp>
          <p:nvSpPr>
            <p:cNvPr name="Freeform 11" id="11"/>
            <p:cNvSpPr/>
            <p:nvPr/>
          </p:nvSpPr>
          <p:spPr>
            <a:xfrm flipH="false" flipV="false" rot="0">
              <a:off x="0" y="0"/>
              <a:ext cx="1895821" cy="553039"/>
            </a:xfrm>
            <a:custGeom>
              <a:avLst/>
              <a:gdLst/>
              <a:ahLst/>
              <a:cxnLst/>
              <a:rect r="r" b="b" t="t" l="l"/>
              <a:pathLst>
                <a:path h="553039" w="1895821">
                  <a:moveTo>
                    <a:pt x="0" y="0"/>
                  </a:moveTo>
                  <a:lnTo>
                    <a:pt x="1895821" y="0"/>
                  </a:lnTo>
                  <a:lnTo>
                    <a:pt x="1895821" y="553039"/>
                  </a:lnTo>
                  <a:lnTo>
                    <a:pt x="0" y="553039"/>
                  </a:lnTo>
                  <a:close/>
                </a:path>
              </a:pathLst>
            </a:custGeom>
            <a:solidFill>
              <a:srgbClr val="0576C7"/>
            </a:solidFill>
          </p:spPr>
        </p:sp>
        <p:sp>
          <p:nvSpPr>
            <p:cNvPr name="TextBox 12" id="12"/>
            <p:cNvSpPr txBox="true"/>
            <p:nvPr/>
          </p:nvSpPr>
          <p:spPr>
            <a:xfrm>
              <a:off x="0" y="-47625"/>
              <a:ext cx="1895821" cy="600664"/>
            </a:xfrm>
            <a:prstGeom prst="rect">
              <a:avLst/>
            </a:prstGeom>
          </p:spPr>
          <p:txBody>
            <a:bodyPr anchor="ctr" rtlCol="false" tIns="50800" lIns="50800" bIns="50800" rIns="50800"/>
            <a:lstStyle/>
            <a:p>
              <a:pPr algn="ctr">
                <a:lnSpc>
                  <a:spcPts val="2800"/>
                </a:lnSpc>
              </a:pPr>
            </a:p>
          </p:txBody>
        </p:sp>
      </p:grpSp>
      <p:sp>
        <p:nvSpPr>
          <p:cNvPr name="TextBox 13" id="13"/>
          <p:cNvSpPr txBox="true"/>
          <p:nvPr/>
        </p:nvSpPr>
        <p:spPr>
          <a:xfrm rot="0">
            <a:off x="0" y="3333219"/>
            <a:ext cx="8341011" cy="5006036"/>
          </a:xfrm>
          <a:prstGeom prst="rect">
            <a:avLst/>
          </a:prstGeom>
        </p:spPr>
        <p:txBody>
          <a:bodyPr anchor="t" rtlCol="false" tIns="0" lIns="0" bIns="0" rIns="0">
            <a:spAutoFit/>
          </a:bodyPr>
          <a:lstStyle/>
          <a:p>
            <a:pPr algn="just" marL="593209" indent="-296604" lvl="1">
              <a:lnSpc>
                <a:spcPts val="3297"/>
              </a:lnSpc>
              <a:buFont typeface="Arial"/>
              <a:buChar char="•"/>
            </a:pPr>
            <a:r>
              <a:rPr lang="en-US" sz="2747" spc="-93">
                <a:solidFill>
                  <a:srgbClr val="FFFFFF"/>
                </a:solidFill>
                <a:latin typeface="Arimo"/>
                <a:ea typeface="Arimo"/>
                <a:cs typeface="Arimo"/>
                <a:sym typeface="Arimo"/>
              </a:rPr>
              <a:t>Detailed information about students’ daily screen time, app usage frequency, and active hours enables a thorough understanding of their digital habits and addiction levels.</a:t>
            </a:r>
          </a:p>
          <a:p>
            <a:pPr algn="just">
              <a:lnSpc>
                <a:spcPts val="3297"/>
              </a:lnSpc>
            </a:pPr>
          </a:p>
          <a:p>
            <a:pPr algn="just">
              <a:lnSpc>
                <a:spcPts val="3297"/>
              </a:lnSpc>
            </a:pPr>
          </a:p>
          <a:p>
            <a:pPr algn="just">
              <a:lnSpc>
                <a:spcPts val="3297"/>
              </a:lnSpc>
            </a:pPr>
          </a:p>
          <a:p>
            <a:pPr algn="just" marL="593209" indent="-296604" lvl="1">
              <a:lnSpc>
                <a:spcPts val="3297"/>
              </a:lnSpc>
              <a:buFont typeface="Arial"/>
              <a:buChar char="•"/>
            </a:pPr>
            <a:r>
              <a:rPr lang="en-US" sz="2747" spc="-93">
                <a:solidFill>
                  <a:srgbClr val="FFFFFF"/>
                </a:solidFill>
                <a:latin typeface="Arimo"/>
                <a:ea typeface="Arimo"/>
                <a:cs typeface="Arimo"/>
                <a:sym typeface="Arimo"/>
              </a:rPr>
              <a:t>Comprehensive data on activities like scrolling, posting, liking, commenting, and sharing helps analyze patterns of engagement and potential signs of dependency.</a:t>
            </a:r>
          </a:p>
          <a:p>
            <a:pPr algn="just">
              <a:lnSpc>
                <a:spcPts val="3297"/>
              </a:lnSpc>
            </a:pPr>
          </a:p>
        </p:txBody>
      </p:sp>
      <p:sp>
        <p:nvSpPr>
          <p:cNvPr name="Freeform 14" id="14"/>
          <p:cNvSpPr/>
          <p:nvPr/>
        </p:nvSpPr>
        <p:spPr>
          <a:xfrm flipH="false" flipV="false" rot="-304013">
            <a:off x="-657856" y="149717"/>
            <a:ext cx="3486814" cy="2179259"/>
          </a:xfrm>
          <a:custGeom>
            <a:avLst/>
            <a:gdLst/>
            <a:ahLst/>
            <a:cxnLst/>
            <a:rect r="r" b="b" t="t" l="l"/>
            <a:pathLst>
              <a:path h="2179259" w="3486814">
                <a:moveTo>
                  <a:pt x="0" y="0"/>
                </a:moveTo>
                <a:lnTo>
                  <a:pt x="3486815" y="0"/>
                </a:lnTo>
                <a:lnTo>
                  <a:pt x="3486815" y="2179259"/>
                </a:lnTo>
                <a:lnTo>
                  <a:pt x="0" y="2179259"/>
                </a:lnTo>
                <a:lnTo>
                  <a:pt x="0" y="0"/>
                </a:lnTo>
                <a:close/>
              </a:path>
            </a:pathLst>
          </a:custGeom>
          <a:blipFill>
            <a:blip r:embed="rId6">
              <a:alphaModFix amt="14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796886" y="3895416"/>
            <a:ext cx="6415221" cy="2304328"/>
            <a:chOff x="0" y="0"/>
            <a:chExt cx="1539655" cy="553039"/>
          </a:xfrm>
        </p:grpSpPr>
        <p:sp>
          <p:nvSpPr>
            <p:cNvPr name="Freeform 4" id="4"/>
            <p:cNvSpPr/>
            <p:nvPr/>
          </p:nvSpPr>
          <p:spPr>
            <a:xfrm flipH="false" flipV="false" rot="0">
              <a:off x="0" y="0"/>
              <a:ext cx="1539655" cy="553039"/>
            </a:xfrm>
            <a:custGeom>
              <a:avLst/>
              <a:gdLst/>
              <a:ahLst/>
              <a:cxnLst/>
              <a:rect r="r" b="b" t="t" l="l"/>
              <a:pathLst>
                <a:path h="553039" w="1539655">
                  <a:moveTo>
                    <a:pt x="0" y="0"/>
                  </a:moveTo>
                  <a:lnTo>
                    <a:pt x="1539655" y="0"/>
                  </a:lnTo>
                  <a:lnTo>
                    <a:pt x="1539655" y="553039"/>
                  </a:lnTo>
                  <a:lnTo>
                    <a:pt x="0" y="553039"/>
                  </a:lnTo>
                  <a:close/>
                </a:path>
              </a:pathLst>
            </a:custGeom>
            <a:solidFill>
              <a:srgbClr val="0B84CE"/>
            </a:solidFill>
          </p:spPr>
        </p:sp>
        <p:sp>
          <p:nvSpPr>
            <p:cNvPr name="TextBox 5" id="5"/>
            <p:cNvSpPr txBox="true"/>
            <p:nvPr/>
          </p:nvSpPr>
          <p:spPr>
            <a:xfrm>
              <a:off x="0" y="-47625"/>
              <a:ext cx="1539655" cy="600664"/>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1796886" y="7120498"/>
            <a:ext cx="6545191" cy="2137802"/>
            <a:chOff x="0" y="0"/>
            <a:chExt cx="1570847" cy="513073"/>
          </a:xfrm>
        </p:grpSpPr>
        <p:sp>
          <p:nvSpPr>
            <p:cNvPr name="Freeform 7" id="7"/>
            <p:cNvSpPr/>
            <p:nvPr/>
          </p:nvSpPr>
          <p:spPr>
            <a:xfrm flipH="false" flipV="false" rot="0">
              <a:off x="0" y="0"/>
              <a:ext cx="1570847" cy="513073"/>
            </a:xfrm>
            <a:custGeom>
              <a:avLst/>
              <a:gdLst/>
              <a:ahLst/>
              <a:cxnLst/>
              <a:rect r="r" b="b" t="t" l="l"/>
              <a:pathLst>
                <a:path h="513073" w="1570847">
                  <a:moveTo>
                    <a:pt x="0" y="0"/>
                  </a:moveTo>
                  <a:lnTo>
                    <a:pt x="1570847" y="0"/>
                  </a:lnTo>
                  <a:lnTo>
                    <a:pt x="1570847" y="513073"/>
                  </a:lnTo>
                  <a:lnTo>
                    <a:pt x="0" y="513073"/>
                  </a:lnTo>
                  <a:close/>
                </a:path>
              </a:pathLst>
            </a:custGeom>
            <a:solidFill>
              <a:srgbClr val="0B84CE"/>
            </a:solidFill>
          </p:spPr>
        </p:sp>
        <p:sp>
          <p:nvSpPr>
            <p:cNvPr name="TextBox 8" id="8"/>
            <p:cNvSpPr txBox="true"/>
            <p:nvPr/>
          </p:nvSpPr>
          <p:spPr>
            <a:xfrm>
              <a:off x="0" y="-47625"/>
              <a:ext cx="1570847" cy="560698"/>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0">
            <a:off x="10427250" y="3895416"/>
            <a:ext cx="5708396" cy="2304328"/>
            <a:chOff x="0" y="0"/>
            <a:chExt cx="1370016" cy="553039"/>
          </a:xfrm>
        </p:grpSpPr>
        <p:sp>
          <p:nvSpPr>
            <p:cNvPr name="Freeform 10" id="10"/>
            <p:cNvSpPr/>
            <p:nvPr/>
          </p:nvSpPr>
          <p:spPr>
            <a:xfrm flipH="false" flipV="false" rot="0">
              <a:off x="0" y="0"/>
              <a:ext cx="1370016" cy="553039"/>
            </a:xfrm>
            <a:custGeom>
              <a:avLst/>
              <a:gdLst/>
              <a:ahLst/>
              <a:cxnLst/>
              <a:rect r="r" b="b" t="t" l="l"/>
              <a:pathLst>
                <a:path h="553039" w="1370016">
                  <a:moveTo>
                    <a:pt x="0" y="0"/>
                  </a:moveTo>
                  <a:lnTo>
                    <a:pt x="1370016" y="0"/>
                  </a:lnTo>
                  <a:lnTo>
                    <a:pt x="1370016" y="553039"/>
                  </a:lnTo>
                  <a:lnTo>
                    <a:pt x="0" y="553039"/>
                  </a:lnTo>
                  <a:close/>
                </a:path>
              </a:pathLst>
            </a:custGeom>
            <a:solidFill>
              <a:srgbClr val="0B84CE"/>
            </a:solidFill>
          </p:spPr>
        </p:sp>
        <p:sp>
          <p:nvSpPr>
            <p:cNvPr name="TextBox 11" id="11"/>
            <p:cNvSpPr txBox="true"/>
            <p:nvPr/>
          </p:nvSpPr>
          <p:spPr>
            <a:xfrm>
              <a:off x="0" y="-47625"/>
              <a:ext cx="1370016" cy="600664"/>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10427250" y="7120498"/>
            <a:ext cx="5752062" cy="2137802"/>
            <a:chOff x="0" y="0"/>
            <a:chExt cx="1380496" cy="513073"/>
          </a:xfrm>
        </p:grpSpPr>
        <p:sp>
          <p:nvSpPr>
            <p:cNvPr name="Freeform 13" id="13"/>
            <p:cNvSpPr/>
            <p:nvPr/>
          </p:nvSpPr>
          <p:spPr>
            <a:xfrm flipH="false" flipV="false" rot="0">
              <a:off x="0" y="0"/>
              <a:ext cx="1380496" cy="513073"/>
            </a:xfrm>
            <a:custGeom>
              <a:avLst/>
              <a:gdLst/>
              <a:ahLst/>
              <a:cxnLst/>
              <a:rect r="r" b="b" t="t" l="l"/>
              <a:pathLst>
                <a:path h="513073" w="1380496">
                  <a:moveTo>
                    <a:pt x="0" y="0"/>
                  </a:moveTo>
                  <a:lnTo>
                    <a:pt x="1380496" y="0"/>
                  </a:lnTo>
                  <a:lnTo>
                    <a:pt x="1380496" y="513073"/>
                  </a:lnTo>
                  <a:lnTo>
                    <a:pt x="0" y="513073"/>
                  </a:lnTo>
                  <a:close/>
                </a:path>
              </a:pathLst>
            </a:custGeom>
            <a:solidFill>
              <a:srgbClr val="0B84CE"/>
            </a:solidFill>
          </p:spPr>
        </p:sp>
        <p:sp>
          <p:nvSpPr>
            <p:cNvPr name="TextBox 14" id="14"/>
            <p:cNvSpPr txBox="true"/>
            <p:nvPr/>
          </p:nvSpPr>
          <p:spPr>
            <a:xfrm>
              <a:off x="0" y="-47625"/>
              <a:ext cx="1380496" cy="560698"/>
            </a:xfrm>
            <a:prstGeom prst="rect">
              <a:avLst/>
            </a:prstGeom>
          </p:spPr>
          <p:txBody>
            <a:bodyPr anchor="ctr" rtlCol="false" tIns="50800" lIns="50800" bIns="50800" rIns="50800"/>
            <a:lstStyle/>
            <a:p>
              <a:pPr algn="ctr">
                <a:lnSpc>
                  <a:spcPts val="2800"/>
                </a:lnSpc>
              </a:pPr>
            </a:p>
          </p:txBody>
        </p:sp>
      </p:grpSp>
      <p:sp>
        <p:nvSpPr>
          <p:cNvPr name="TextBox 15" id="15"/>
          <p:cNvSpPr txBox="true"/>
          <p:nvPr/>
        </p:nvSpPr>
        <p:spPr>
          <a:xfrm rot="0">
            <a:off x="2196020" y="1409700"/>
            <a:ext cx="13983293" cy="1641439"/>
          </a:xfrm>
          <a:prstGeom prst="rect">
            <a:avLst/>
          </a:prstGeom>
        </p:spPr>
        <p:txBody>
          <a:bodyPr anchor="t" rtlCol="false" tIns="0" lIns="0" bIns="0" rIns="0">
            <a:spAutoFit/>
          </a:bodyPr>
          <a:lstStyle/>
          <a:p>
            <a:pPr algn="ctr" marL="0" indent="0" lvl="0">
              <a:lnSpc>
                <a:spcPts val="11444"/>
              </a:lnSpc>
              <a:spcBef>
                <a:spcPct val="0"/>
              </a:spcBef>
            </a:pPr>
            <a:r>
              <a:rPr lang="en-US" b="true" sz="13307" spc="-452">
                <a:solidFill>
                  <a:srgbClr val="000000"/>
                </a:solidFill>
                <a:latin typeface="Arimo Bold"/>
                <a:ea typeface="Arimo Bold"/>
                <a:cs typeface="Arimo Bold"/>
                <a:sym typeface="Arimo Bold"/>
              </a:rPr>
              <a:t>DISADVANTAGES</a:t>
            </a:r>
          </a:p>
        </p:txBody>
      </p:sp>
      <p:sp>
        <p:nvSpPr>
          <p:cNvPr name="TextBox 16" id="16"/>
          <p:cNvSpPr txBox="true"/>
          <p:nvPr/>
        </p:nvSpPr>
        <p:spPr>
          <a:xfrm rot="0">
            <a:off x="2152354" y="3943350"/>
            <a:ext cx="5675373" cy="2419350"/>
          </a:xfrm>
          <a:prstGeom prst="rect">
            <a:avLst/>
          </a:prstGeom>
        </p:spPr>
        <p:txBody>
          <a:bodyPr anchor="t" rtlCol="false" tIns="0" lIns="0" bIns="0" rIns="0">
            <a:spAutoFit/>
          </a:bodyPr>
          <a:lstStyle/>
          <a:p>
            <a:pPr algn="just">
              <a:lnSpc>
                <a:spcPts val="3220"/>
              </a:lnSpc>
            </a:pPr>
            <a:r>
              <a:rPr lang="en-US" sz="2683" spc="-91">
                <a:solidFill>
                  <a:srgbClr val="FAF6F6"/>
                </a:solidFill>
                <a:latin typeface="Arimo"/>
                <a:ea typeface="Arimo"/>
                <a:cs typeface="Arimo"/>
                <a:sym typeface="Arimo"/>
              </a:rPr>
              <a:t>The vast amount of social media activity data can be overwhelming and complex to monitor, requiring significant time, resources, and advanced analytical skills to interpret accurately.</a:t>
            </a:r>
          </a:p>
          <a:p>
            <a:pPr algn="just">
              <a:lnSpc>
                <a:spcPts val="3220"/>
              </a:lnSpc>
            </a:pPr>
          </a:p>
        </p:txBody>
      </p:sp>
      <p:sp>
        <p:nvSpPr>
          <p:cNvPr name="TextBox 17" id="17"/>
          <p:cNvSpPr txBox="true"/>
          <p:nvPr/>
        </p:nvSpPr>
        <p:spPr>
          <a:xfrm rot="0">
            <a:off x="1984882" y="7198507"/>
            <a:ext cx="6208175" cy="2419350"/>
          </a:xfrm>
          <a:prstGeom prst="rect">
            <a:avLst/>
          </a:prstGeom>
        </p:spPr>
        <p:txBody>
          <a:bodyPr anchor="t" rtlCol="false" tIns="0" lIns="0" bIns="0" rIns="0">
            <a:spAutoFit/>
          </a:bodyPr>
          <a:lstStyle/>
          <a:p>
            <a:pPr algn="just">
              <a:lnSpc>
                <a:spcPts val="3220"/>
              </a:lnSpc>
            </a:pPr>
            <a:r>
              <a:rPr lang="en-US" sz="2683" spc="-91">
                <a:solidFill>
                  <a:srgbClr val="FAF6F6"/>
                </a:solidFill>
                <a:latin typeface="Arimo"/>
                <a:ea typeface="Arimo"/>
                <a:cs typeface="Arimo"/>
                <a:sym typeface="Arimo"/>
              </a:rPr>
              <a:t>Handling student data involves privacy and ethical concerns, requiring strict adherence to data protection policies to prevent misuse and ensure students’ confidentiality and consent.</a:t>
            </a:r>
          </a:p>
          <a:p>
            <a:pPr algn="just">
              <a:lnSpc>
                <a:spcPts val="3220"/>
              </a:lnSpc>
            </a:pPr>
          </a:p>
        </p:txBody>
      </p:sp>
      <p:sp>
        <p:nvSpPr>
          <p:cNvPr name="TextBox 18" id="18"/>
          <p:cNvSpPr txBox="true"/>
          <p:nvPr/>
        </p:nvSpPr>
        <p:spPr>
          <a:xfrm rot="0">
            <a:off x="10603224" y="7198507"/>
            <a:ext cx="5382905" cy="2362200"/>
          </a:xfrm>
          <a:prstGeom prst="rect">
            <a:avLst/>
          </a:prstGeom>
        </p:spPr>
        <p:txBody>
          <a:bodyPr anchor="t" rtlCol="false" tIns="0" lIns="0" bIns="0" rIns="0">
            <a:spAutoFit/>
          </a:bodyPr>
          <a:lstStyle/>
          <a:p>
            <a:pPr algn="just">
              <a:lnSpc>
                <a:spcPts val="3100"/>
              </a:lnSpc>
            </a:pPr>
            <a:r>
              <a:rPr lang="en-US" sz="2583" spc="-87">
                <a:solidFill>
                  <a:srgbClr val="FAF6F6"/>
                </a:solidFill>
                <a:latin typeface="Arimo"/>
                <a:ea typeface="Arimo"/>
                <a:cs typeface="Arimo"/>
                <a:sym typeface="Arimo"/>
              </a:rPr>
              <a:t>The rapidly changing nature of social media trends means that usage patterns can shift quickly, necessitating continuous monitoring and real-time updates to keep findings relevant.</a:t>
            </a:r>
          </a:p>
          <a:p>
            <a:pPr algn="just">
              <a:lnSpc>
                <a:spcPts val="3100"/>
              </a:lnSpc>
            </a:pPr>
          </a:p>
        </p:txBody>
      </p:sp>
      <p:sp>
        <p:nvSpPr>
          <p:cNvPr name="TextBox 19" id="19"/>
          <p:cNvSpPr txBox="true"/>
          <p:nvPr/>
        </p:nvSpPr>
        <p:spPr>
          <a:xfrm rot="0">
            <a:off x="9040782" y="5090006"/>
            <a:ext cx="1386468" cy="499201"/>
          </a:xfrm>
          <a:prstGeom prst="rect">
            <a:avLst/>
          </a:prstGeom>
        </p:spPr>
        <p:txBody>
          <a:bodyPr anchor="t" rtlCol="false" tIns="0" lIns="0" bIns="0" rIns="0">
            <a:spAutoFit/>
          </a:bodyPr>
          <a:lstStyle/>
          <a:p>
            <a:pPr algn="l">
              <a:lnSpc>
                <a:spcPts val="1944"/>
              </a:lnSpc>
            </a:pPr>
            <a:r>
              <a:rPr lang="en-US" b="true" sz="1620" spc="-55">
                <a:solidFill>
                  <a:srgbClr val="FAF6F6"/>
                </a:solidFill>
                <a:latin typeface="Arimo Bold"/>
                <a:ea typeface="Arimo Bold"/>
                <a:cs typeface="Arimo Bold"/>
                <a:sym typeface="Arimo Bold"/>
              </a:rPr>
              <a:t>CREATIVE DESIGN</a:t>
            </a:r>
          </a:p>
        </p:txBody>
      </p:sp>
      <p:sp>
        <p:nvSpPr>
          <p:cNvPr name="TextBox 20" id="20"/>
          <p:cNvSpPr txBox="true"/>
          <p:nvPr/>
        </p:nvSpPr>
        <p:spPr>
          <a:xfrm rot="0">
            <a:off x="10603224" y="3981450"/>
            <a:ext cx="5382905" cy="2362200"/>
          </a:xfrm>
          <a:prstGeom prst="rect">
            <a:avLst/>
          </a:prstGeom>
        </p:spPr>
        <p:txBody>
          <a:bodyPr anchor="t" rtlCol="false" tIns="0" lIns="0" bIns="0" rIns="0">
            <a:spAutoFit/>
          </a:bodyPr>
          <a:lstStyle/>
          <a:p>
            <a:pPr algn="just">
              <a:lnSpc>
                <a:spcPts val="3100"/>
              </a:lnSpc>
            </a:pPr>
            <a:r>
              <a:rPr lang="en-US" sz="2583" spc="-87">
                <a:solidFill>
                  <a:srgbClr val="FAF6F6"/>
                </a:solidFill>
                <a:latin typeface="Arimo"/>
                <a:ea typeface="Arimo"/>
                <a:cs typeface="Arimo"/>
                <a:sym typeface="Arimo"/>
              </a:rPr>
              <a:t>Self-reported usage data or app-tracked data might be incomplete or inaccurate, leading to gaps that hinder comprehensive analysis and may result in biased or misleading conclusions.</a:t>
            </a:r>
          </a:p>
          <a:p>
            <a:pPr algn="just">
              <a:lnSpc>
                <a:spcPts val="3100"/>
              </a:lnSpc>
            </a:pPr>
          </a:p>
        </p:txBody>
      </p:sp>
      <p:sp>
        <p:nvSpPr>
          <p:cNvPr name="Freeform 21" id="21"/>
          <p:cNvSpPr/>
          <p:nvPr/>
        </p:nvSpPr>
        <p:spPr>
          <a:xfrm flipH="false" flipV="false" rot="-3895007">
            <a:off x="-6459224" y="-4118743"/>
            <a:ext cx="11772082" cy="5521740"/>
          </a:xfrm>
          <a:custGeom>
            <a:avLst/>
            <a:gdLst/>
            <a:ahLst/>
            <a:cxnLst/>
            <a:rect r="r" b="b" t="t" l="l"/>
            <a:pathLst>
              <a:path h="5521740" w="11772082">
                <a:moveTo>
                  <a:pt x="0" y="0"/>
                </a:moveTo>
                <a:lnTo>
                  <a:pt x="11772082" y="0"/>
                </a:lnTo>
                <a:lnTo>
                  <a:pt x="11772082" y="5521740"/>
                </a:lnTo>
                <a:lnTo>
                  <a:pt x="0" y="5521740"/>
                </a:lnTo>
                <a:lnTo>
                  <a:pt x="0" y="0"/>
                </a:lnTo>
                <a:close/>
              </a:path>
            </a:pathLst>
          </a:custGeom>
          <a:blipFill>
            <a:blip r:embed="rId3"/>
            <a:stretch>
              <a:fillRect l="-15816" t="-52363" r="0" b="-12144"/>
            </a:stretch>
          </a:blipFill>
        </p:spPr>
      </p:sp>
      <p:sp>
        <p:nvSpPr>
          <p:cNvPr name="Freeform 22" id="22"/>
          <p:cNvSpPr/>
          <p:nvPr/>
        </p:nvSpPr>
        <p:spPr>
          <a:xfrm flipH="false" flipV="false" rot="6483168">
            <a:off x="12334818" y="7076141"/>
            <a:ext cx="13780926" cy="5521740"/>
          </a:xfrm>
          <a:custGeom>
            <a:avLst/>
            <a:gdLst/>
            <a:ahLst/>
            <a:cxnLst/>
            <a:rect r="r" b="b" t="t" l="l"/>
            <a:pathLst>
              <a:path h="5521740" w="13780926">
                <a:moveTo>
                  <a:pt x="0" y="0"/>
                </a:moveTo>
                <a:lnTo>
                  <a:pt x="13780926" y="0"/>
                </a:lnTo>
                <a:lnTo>
                  <a:pt x="13780926" y="5521740"/>
                </a:lnTo>
                <a:lnTo>
                  <a:pt x="0" y="5521740"/>
                </a:lnTo>
                <a:lnTo>
                  <a:pt x="0" y="0"/>
                </a:lnTo>
                <a:close/>
              </a:path>
            </a:pathLst>
          </a:custGeom>
          <a:blipFill>
            <a:blip r:embed="rId3"/>
            <a:stretch>
              <a:fillRect l="0" t="-53466" r="0" b="-12813"/>
            </a:stretch>
          </a:blipFill>
        </p:spPr>
      </p:sp>
      <p:sp>
        <p:nvSpPr>
          <p:cNvPr name="Freeform 23" id="23"/>
          <p:cNvSpPr/>
          <p:nvPr/>
        </p:nvSpPr>
        <p:spPr>
          <a:xfrm flipH="false" flipV="false" rot="4242921">
            <a:off x="-166199" y="-3293937"/>
            <a:ext cx="2155401" cy="5648203"/>
          </a:xfrm>
          <a:custGeom>
            <a:avLst/>
            <a:gdLst/>
            <a:ahLst/>
            <a:cxnLst/>
            <a:rect r="r" b="b" t="t" l="l"/>
            <a:pathLst>
              <a:path h="5648203" w="2155401">
                <a:moveTo>
                  <a:pt x="0" y="0"/>
                </a:moveTo>
                <a:lnTo>
                  <a:pt x="2155400" y="0"/>
                </a:lnTo>
                <a:lnTo>
                  <a:pt x="2155400" y="5648203"/>
                </a:lnTo>
                <a:lnTo>
                  <a:pt x="0" y="5648203"/>
                </a:lnTo>
                <a:lnTo>
                  <a:pt x="0" y="0"/>
                </a:lnTo>
                <a:close/>
              </a:path>
            </a:pathLst>
          </a:custGeom>
          <a:blipFill>
            <a:blip r:embed="rId4"/>
            <a:stretch>
              <a:fillRect l="-145976" t="-11036" r="-190751" b="0"/>
            </a:stretch>
          </a:blipFill>
        </p:spPr>
      </p:sp>
      <p:sp>
        <p:nvSpPr>
          <p:cNvPr name="Freeform 24" id="24"/>
          <p:cNvSpPr/>
          <p:nvPr/>
        </p:nvSpPr>
        <p:spPr>
          <a:xfrm flipH="false" flipV="false" rot="-6978902">
            <a:off x="16254104" y="7268244"/>
            <a:ext cx="2155401" cy="5648203"/>
          </a:xfrm>
          <a:custGeom>
            <a:avLst/>
            <a:gdLst/>
            <a:ahLst/>
            <a:cxnLst/>
            <a:rect r="r" b="b" t="t" l="l"/>
            <a:pathLst>
              <a:path h="5648203" w="2155401">
                <a:moveTo>
                  <a:pt x="0" y="0"/>
                </a:moveTo>
                <a:lnTo>
                  <a:pt x="2155401" y="0"/>
                </a:lnTo>
                <a:lnTo>
                  <a:pt x="2155401" y="5648202"/>
                </a:lnTo>
                <a:lnTo>
                  <a:pt x="0" y="5648202"/>
                </a:lnTo>
                <a:lnTo>
                  <a:pt x="0" y="0"/>
                </a:lnTo>
                <a:close/>
              </a:path>
            </a:pathLst>
          </a:custGeom>
          <a:blipFill>
            <a:blip r:embed="rId4"/>
            <a:stretch>
              <a:fillRect l="-145976" t="-11036" r="-190751" b="0"/>
            </a:stretch>
          </a:blipFill>
        </p:spPr>
      </p:sp>
      <p:sp>
        <p:nvSpPr>
          <p:cNvPr name="Freeform 25" id="25"/>
          <p:cNvSpPr/>
          <p:nvPr/>
        </p:nvSpPr>
        <p:spPr>
          <a:xfrm flipH="false" flipV="false" rot="-304013">
            <a:off x="15253964" y="-552825"/>
            <a:ext cx="3568647" cy="2230405"/>
          </a:xfrm>
          <a:custGeom>
            <a:avLst/>
            <a:gdLst/>
            <a:ahLst/>
            <a:cxnLst/>
            <a:rect r="r" b="b" t="t" l="l"/>
            <a:pathLst>
              <a:path h="2230405" w="3568647">
                <a:moveTo>
                  <a:pt x="0" y="0"/>
                </a:moveTo>
                <a:lnTo>
                  <a:pt x="3568647" y="0"/>
                </a:lnTo>
                <a:lnTo>
                  <a:pt x="3568647" y="2230405"/>
                </a:lnTo>
                <a:lnTo>
                  <a:pt x="0" y="2230405"/>
                </a:lnTo>
                <a:lnTo>
                  <a:pt x="0" y="0"/>
                </a:lnTo>
                <a:close/>
              </a:path>
            </a:pathLst>
          </a:custGeom>
          <a:blipFill>
            <a:blip r:embed="rId5">
              <a:alphaModFix amt="14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546385" y="2710643"/>
            <a:ext cx="10941896" cy="4242355"/>
            <a:chOff x="0" y="0"/>
            <a:chExt cx="2995375" cy="1161357"/>
          </a:xfrm>
        </p:grpSpPr>
        <p:sp>
          <p:nvSpPr>
            <p:cNvPr name="Freeform 4" id="4"/>
            <p:cNvSpPr/>
            <p:nvPr/>
          </p:nvSpPr>
          <p:spPr>
            <a:xfrm flipH="false" flipV="false" rot="0">
              <a:off x="0" y="0"/>
              <a:ext cx="2995375" cy="1161357"/>
            </a:xfrm>
            <a:custGeom>
              <a:avLst/>
              <a:gdLst/>
              <a:ahLst/>
              <a:cxnLst/>
              <a:rect r="r" b="b" t="t" l="l"/>
              <a:pathLst>
                <a:path h="1161357" w="2995375">
                  <a:moveTo>
                    <a:pt x="0" y="0"/>
                  </a:moveTo>
                  <a:lnTo>
                    <a:pt x="2995375" y="0"/>
                  </a:lnTo>
                  <a:lnTo>
                    <a:pt x="2995375" y="1161357"/>
                  </a:lnTo>
                  <a:lnTo>
                    <a:pt x="0" y="1161357"/>
                  </a:lnTo>
                  <a:close/>
                </a:path>
              </a:pathLst>
            </a:custGeom>
            <a:solidFill>
              <a:srgbClr val="0B84CE"/>
            </a:solidFill>
          </p:spPr>
        </p:sp>
        <p:sp>
          <p:nvSpPr>
            <p:cNvPr name="TextBox 5" id="5"/>
            <p:cNvSpPr txBox="true"/>
            <p:nvPr/>
          </p:nvSpPr>
          <p:spPr>
            <a:xfrm>
              <a:off x="0" y="-47625"/>
              <a:ext cx="2995375" cy="1208982"/>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6043371" y="8176019"/>
            <a:ext cx="10936072" cy="1568371"/>
            <a:chOff x="0" y="0"/>
            <a:chExt cx="2993781" cy="429346"/>
          </a:xfrm>
        </p:grpSpPr>
        <p:sp>
          <p:nvSpPr>
            <p:cNvPr name="Freeform 7" id="7"/>
            <p:cNvSpPr/>
            <p:nvPr/>
          </p:nvSpPr>
          <p:spPr>
            <a:xfrm flipH="false" flipV="false" rot="0">
              <a:off x="0" y="0"/>
              <a:ext cx="2993781" cy="429346"/>
            </a:xfrm>
            <a:custGeom>
              <a:avLst/>
              <a:gdLst/>
              <a:ahLst/>
              <a:cxnLst/>
              <a:rect r="r" b="b" t="t" l="l"/>
              <a:pathLst>
                <a:path h="429346" w="2993781">
                  <a:moveTo>
                    <a:pt x="0" y="0"/>
                  </a:moveTo>
                  <a:lnTo>
                    <a:pt x="2993781" y="0"/>
                  </a:lnTo>
                  <a:lnTo>
                    <a:pt x="2993781" y="429346"/>
                  </a:lnTo>
                  <a:lnTo>
                    <a:pt x="0" y="429346"/>
                  </a:lnTo>
                  <a:close/>
                </a:path>
              </a:pathLst>
            </a:custGeom>
            <a:solidFill>
              <a:srgbClr val="0B84CE"/>
            </a:solidFill>
          </p:spPr>
        </p:sp>
        <p:sp>
          <p:nvSpPr>
            <p:cNvPr name="TextBox 8" id="8"/>
            <p:cNvSpPr txBox="true"/>
            <p:nvPr/>
          </p:nvSpPr>
          <p:spPr>
            <a:xfrm>
              <a:off x="0" y="-47625"/>
              <a:ext cx="2993781" cy="476971"/>
            </a:xfrm>
            <a:prstGeom prst="rect">
              <a:avLst/>
            </a:prstGeom>
          </p:spPr>
          <p:txBody>
            <a:bodyPr anchor="ctr" rtlCol="false" tIns="50800" lIns="50800" bIns="50800" rIns="50800"/>
            <a:lstStyle/>
            <a:p>
              <a:pPr algn="ctr">
                <a:lnSpc>
                  <a:spcPts val="2800"/>
                </a:lnSpc>
              </a:pPr>
            </a:p>
          </p:txBody>
        </p:sp>
      </p:grpSp>
      <p:sp>
        <p:nvSpPr>
          <p:cNvPr name="Freeform 9" id="9"/>
          <p:cNvSpPr/>
          <p:nvPr/>
        </p:nvSpPr>
        <p:spPr>
          <a:xfrm flipH="false" flipV="false" rot="6483168">
            <a:off x="12334818" y="7076141"/>
            <a:ext cx="13780926" cy="5521740"/>
          </a:xfrm>
          <a:custGeom>
            <a:avLst/>
            <a:gdLst/>
            <a:ahLst/>
            <a:cxnLst/>
            <a:rect r="r" b="b" t="t" l="l"/>
            <a:pathLst>
              <a:path h="5521740" w="13780926">
                <a:moveTo>
                  <a:pt x="0" y="0"/>
                </a:moveTo>
                <a:lnTo>
                  <a:pt x="13780926" y="0"/>
                </a:lnTo>
                <a:lnTo>
                  <a:pt x="13780926" y="5521740"/>
                </a:lnTo>
                <a:lnTo>
                  <a:pt x="0" y="5521740"/>
                </a:lnTo>
                <a:lnTo>
                  <a:pt x="0" y="0"/>
                </a:lnTo>
                <a:close/>
              </a:path>
            </a:pathLst>
          </a:custGeom>
          <a:blipFill>
            <a:blip r:embed="rId3"/>
            <a:stretch>
              <a:fillRect l="0" t="-53466" r="0" b="-12813"/>
            </a:stretch>
          </a:blipFill>
        </p:spPr>
      </p:sp>
      <p:sp>
        <p:nvSpPr>
          <p:cNvPr name="Freeform 10" id="10"/>
          <p:cNvSpPr/>
          <p:nvPr/>
        </p:nvSpPr>
        <p:spPr>
          <a:xfrm flipH="false" flipV="false" rot="-6978902">
            <a:off x="16254104" y="7268244"/>
            <a:ext cx="2155401" cy="5648203"/>
          </a:xfrm>
          <a:custGeom>
            <a:avLst/>
            <a:gdLst/>
            <a:ahLst/>
            <a:cxnLst/>
            <a:rect r="r" b="b" t="t" l="l"/>
            <a:pathLst>
              <a:path h="5648203" w="2155401">
                <a:moveTo>
                  <a:pt x="0" y="0"/>
                </a:moveTo>
                <a:lnTo>
                  <a:pt x="2155401" y="0"/>
                </a:lnTo>
                <a:lnTo>
                  <a:pt x="2155401" y="5648202"/>
                </a:lnTo>
                <a:lnTo>
                  <a:pt x="0" y="5648202"/>
                </a:lnTo>
                <a:lnTo>
                  <a:pt x="0" y="0"/>
                </a:lnTo>
                <a:close/>
              </a:path>
            </a:pathLst>
          </a:custGeom>
          <a:blipFill>
            <a:blip r:embed="rId4"/>
            <a:stretch>
              <a:fillRect l="-145976" t="-11036" r="-190751" b="0"/>
            </a:stretch>
          </a:blipFill>
        </p:spPr>
      </p:sp>
      <p:sp>
        <p:nvSpPr>
          <p:cNvPr name="Freeform 11" id="11"/>
          <p:cNvSpPr/>
          <p:nvPr/>
        </p:nvSpPr>
        <p:spPr>
          <a:xfrm flipH="false" flipV="false" rot="-7477800">
            <a:off x="-402412" y="-3605611"/>
            <a:ext cx="3980761" cy="8080124"/>
          </a:xfrm>
          <a:custGeom>
            <a:avLst/>
            <a:gdLst/>
            <a:ahLst/>
            <a:cxnLst/>
            <a:rect r="r" b="b" t="t" l="l"/>
            <a:pathLst>
              <a:path h="8080124" w="3980761">
                <a:moveTo>
                  <a:pt x="0" y="0"/>
                </a:moveTo>
                <a:lnTo>
                  <a:pt x="3980760" y="0"/>
                </a:lnTo>
                <a:lnTo>
                  <a:pt x="3980760" y="8080124"/>
                </a:lnTo>
                <a:lnTo>
                  <a:pt x="0" y="8080124"/>
                </a:lnTo>
                <a:lnTo>
                  <a:pt x="0" y="0"/>
                </a:lnTo>
                <a:close/>
              </a:path>
            </a:pathLst>
          </a:custGeom>
          <a:blipFill>
            <a:blip r:embed="rId4"/>
            <a:stretch>
              <a:fillRect l="-100468" t="-11036" r="-137814" b="0"/>
            </a:stretch>
          </a:blipFill>
        </p:spPr>
      </p:sp>
      <p:sp>
        <p:nvSpPr>
          <p:cNvPr name="Freeform 12" id="12"/>
          <p:cNvSpPr/>
          <p:nvPr/>
        </p:nvSpPr>
        <p:spPr>
          <a:xfrm flipH="false" flipV="false" rot="0">
            <a:off x="847181" y="1737767"/>
            <a:ext cx="5014671" cy="6811467"/>
          </a:xfrm>
          <a:custGeom>
            <a:avLst/>
            <a:gdLst/>
            <a:ahLst/>
            <a:cxnLst/>
            <a:rect r="r" b="b" t="t" l="l"/>
            <a:pathLst>
              <a:path h="6811467" w="5014671">
                <a:moveTo>
                  <a:pt x="0" y="0"/>
                </a:moveTo>
                <a:lnTo>
                  <a:pt x="5014671" y="0"/>
                </a:lnTo>
                <a:lnTo>
                  <a:pt x="5014671" y="6811466"/>
                </a:lnTo>
                <a:lnTo>
                  <a:pt x="0" y="6811466"/>
                </a:lnTo>
                <a:lnTo>
                  <a:pt x="0" y="0"/>
                </a:lnTo>
                <a:close/>
              </a:path>
            </a:pathLst>
          </a:custGeom>
          <a:blipFill>
            <a:blip r:embed="rId5"/>
            <a:stretch>
              <a:fillRect l="-68691" t="0" r="-68691" b="-16436"/>
            </a:stretch>
          </a:blipFill>
        </p:spPr>
      </p:sp>
      <p:sp>
        <p:nvSpPr>
          <p:cNvPr name="TextBox 13" id="13"/>
          <p:cNvSpPr txBox="true"/>
          <p:nvPr/>
        </p:nvSpPr>
        <p:spPr>
          <a:xfrm rot="0">
            <a:off x="6313885" y="1391058"/>
            <a:ext cx="11577159" cy="1039123"/>
          </a:xfrm>
          <a:prstGeom prst="rect">
            <a:avLst/>
          </a:prstGeom>
        </p:spPr>
        <p:txBody>
          <a:bodyPr anchor="t" rtlCol="false" tIns="0" lIns="0" bIns="0" rIns="0">
            <a:spAutoFit/>
          </a:bodyPr>
          <a:lstStyle/>
          <a:p>
            <a:pPr algn="l" marL="0" indent="0" lvl="0">
              <a:lnSpc>
                <a:spcPts val="7226"/>
              </a:lnSpc>
              <a:spcBef>
                <a:spcPct val="0"/>
              </a:spcBef>
            </a:pPr>
            <a:r>
              <a:rPr lang="en-US" b="true" sz="8403" spc="-285">
                <a:solidFill>
                  <a:srgbClr val="000000"/>
                </a:solidFill>
                <a:latin typeface="Arimo Bold"/>
                <a:ea typeface="Arimo Bold"/>
                <a:cs typeface="Arimo Bold"/>
                <a:sym typeface="Arimo Bold"/>
              </a:rPr>
              <a:t>PROB</a:t>
            </a:r>
            <a:r>
              <a:rPr lang="en-US" b="true" sz="8403" spc="-285">
                <a:solidFill>
                  <a:srgbClr val="000000"/>
                </a:solidFill>
                <a:latin typeface="Arimo Bold"/>
                <a:ea typeface="Arimo Bold"/>
                <a:cs typeface="Arimo Bold"/>
                <a:sym typeface="Arimo Bold"/>
              </a:rPr>
              <a:t>LEM STATEMENT</a:t>
            </a:r>
          </a:p>
        </p:txBody>
      </p:sp>
      <p:sp>
        <p:nvSpPr>
          <p:cNvPr name="TextBox 14" id="14"/>
          <p:cNvSpPr txBox="true"/>
          <p:nvPr/>
        </p:nvSpPr>
        <p:spPr>
          <a:xfrm rot="0">
            <a:off x="6043371" y="7324621"/>
            <a:ext cx="8628934" cy="722615"/>
          </a:xfrm>
          <a:prstGeom prst="rect">
            <a:avLst/>
          </a:prstGeom>
        </p:spPr>
        <p:txBody>
          <a:bodyPr anchor="t" rtlCol="false" tIns="0" lIns="0" bIns="0" rIns="0">
            <a:spAutoFit/>
          </a:bodyPr>
          <a:lstStyle/>
          <a:p>
            <a:pPr algn="just" marL="0" indent="0" lvl="0">
              <a:lnSpc>
                <a:spcPts val="2630"/>
              </a:lnSpc>
              <a:spcBef>
                <a:spcPct val="0"/>
              </a:spcBef>
            </a:pPr>
            <a:r>
              <a:rPr lang="en-US" b="true" sz="3058" spc="-103">
                <a:solidFill>
                  <a:srgbClr val="000000"/>
                </a:solidFill>
                <a:latin typeface="Arimo Bold"/>
                <a:ea typeface="Arimo Bold"/>
                <a:cs typeface="Arimo Bold"/>
                <a:sym typeface="Arimo Bold"/>
              </a:rPr>
              <a:t>FO</a:t>
            </a:r>
            <a:r>
              <a:rPr lang="en-US" b="true" sz="3058" spc="-103">
                <a:solidFill>
                  <a:srgbClr val="000000"/>
                </a:solidFill>
                <a:latin typeface="Arimo Bold"/>
                <a:ea typeface="Arimo Bold"/>
                <a:cs typeface="Arimo Bold"/>
                <a:sym typeface="Arimo Bold"/>
              </a:rPr>
              <a:t>LLOWING ARE NEEDED TASKS FOR THE DEVELOPMENT OF THE ALGORITHM:</a:t>
            </a:r>
          </a:p>
        </p:txBody>
      </p:sp>
      <p:sp>
        <p:nvSpPr>
          <p:cNvPr name="TextBox 15" id="15"/>
          <p:cNvSpPr txBox="true"/>
          <p:nvPr/>
        </p:nvSpPr>
        <p:spPr>
          <a:xfrm rot="0">
            <a:off x="6043371" y="8260825"/>
            <a:ext cx="10169279" cy="1576186"/>
          </a:xfrm>
          <a:prstGeom prst="rect">
            <a:avLst/>
          </a:prstGeom>
        </p:spPr>
        <p:txBody>
          <a:bodyPr anchor="t" rtlCol="false" tIns="0" lIns="0" bIns="0" rIns="0">
            <a:spAutoFit/>
          </a:bodyPr>
          <a:lstStyle/>
          <a:p>
            <a:pPr algn="l" marL="490336" indent="-245168" lvl="1">
              <a:lnSpc>
                <a:spcPts val="2089"/>
              </a:lnSpc>
              <a:buFont typeface="Arial"/>
              <a:buChar char="•"/>
            </a:pPr>
            <a:r>
              <a:rPr lang="en-US" sz="2271" spc="-77">
                <a:solidFill>
                  <a:srgbClr val="FFFFFF"/>
                </a:solidFill>
                <a:latin typeface="Arimo"/>
                <a:ea typeface="Arimo"/>
                <a:cs typeface="Arimo"/>
                <a:sym typeface="Arimo"/>
              </a:rPr>
              <a:t>Collect and preprocess student social media usage data.</a:t>
            </a:r>
          </a:p>
          <a:p>
            <a:pPr algn="l">
              <a:lnSpc>
                <a:spcPts val="2089"/>
              </a:lnSpc>
            </a:pPr>
          </a:p>
          <a:p>
            <a:pPr algn="l" marL="490336" indent="-245168" lvl="1">
              <a:lnSpc>
                <a:spcPts val="2089"/>
              </a:lnSpc>
              <a:buFont typeface="Arial"/>
              <a:buChar char="•"/>
            </a:pPr>
            <a:r>
              <a:rPr lang="en-US" sz="2271" spc="-77">
                <a:solidFill>
                  <a:srgbClr val="FFFFFF"/>
                </a:solidFill>
                <a:latin typeface="Arimo"/>
                <a:ea typeface="Arimo"/>
                <a:cs typeface="Arimo"/>
                <a:sym typeface="Arimo"/>
              </a:rPr>
              <a:t>Analyze and categorize behavioral patterns and risk levels of addiction.</a:t>
            </a:r>
          </a:p>
          <a:p>
            <a:pPr algn="l">
              <a:lnSpc>
                <a:spcPts val="2089"/>
              </a:lnSpc>
            </a:pPr>
          </a:p>
          <a:p>
            <a:pPr algn="l" marL="490336" indent="-245168" lvl="1">
              <a:lnSpc>
                <a:spcPts val="2089"/>
              </a:lnSpc>
              <a:buFont typeface="Arial"/>
              <a:buChar char="•"/>
            </a:pPr>
            <a:r>
              <a:rPr lang="en-US" sz="2271" spc="-77">
                <a:solidFill>
                  <a:srgbClr val="FFFFFF"/>
                </a:solidFill>
                <a:latin typeface="Arimo"/>
                <a:ea typeface="Arimo"/>
                <a:cs typeface="Arimo"/>
                <a:sym typeface="Arimo"/>
              </a:rPr>
              <a:t>Develop and test awareness or intervention strategies to reduce excessive usage.</a:t>
            </a:r>
          </a:p>
          <a:p>
            <a:pPr algn="l">
              <a:lnSpc>
                <a:spcPts val="2089"/>
              </a:lnSpc>
            </a:pPr>
          </a:p>
        </p:txBody>
      </p:sp>
      <p:sp>
        <p:nvSpPr>
          <p:cNvPr name="Freeform 16" id="16"/>
          <p:cNvSpPr/>
          <p:nvPr/>
        </p:nvSpPr>
        <p:spPr>
          <a:xfrm flipH="false" flipV="false" rot="1595541">
            <a:off x="14905117" y="614270"/>
            <a:ext cx="2143063" cy="2472765"/>
          </a:xfrm>
          <a:custGeom>
            <a:avLst/>
            <a:gdLst/>
            <a:ahLst/>
            <a:cxnLst/>
            <a:rect r="r" b="b" t="t" l="l"/>
            <a:pathLst>
              <a:path h="2472765" w="2143063">
                <a:moveTo>
                  <a:pt x="0" y="0"/>
                </a:moveTo>
                <a:lnTo>
                  <a:pt x="2143063" y="0"/>
                </a:lnTo>
                <a:lnTo>
                  <a:pt x="2143063" y="2472765"/>
                </a:lnTo>
                <a:lnTo>
                  <a:pt x="0" y="2472765"/>
                </a:lnTo>
                <a:lnTo>
                  <a:pt x="0" y="0"/>
                </a:lnTo>
                <a:close/>
              </a:path>
            </a:pathLst>
          </a:custGeom>
          <a:blipFill>
            <a:blip r:embed="rId6">
              <a:alphaModFix amt="14000"/>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7" id="17"/>
          <p:cNvSpPr/>
          <p:nvPr/>
        </p:nvSpPr>
        <p:spPr>
          <a:xfrm flipH="true" flipV="false" rot="590801">
            <a:off x="4049128" y="7100000"/>
            <a:ext cx="1864120" cy="1682369"/>
          </a:xfrm>
          <a:custGeom>
            <a:avLst/>
            <a:gdLst/>
            <a:ahLst/>
            <a:cxnLst/>
            <a:rect r="r" b="b" t="t" l="l"/>
            <a:pathLst>
              <a:path h="1682369" w="1864120">
                <a:moveTo>
                  <a:pt x="1864120" y="0"/>
                </a:moveTo>
                <a:lnTo>
                  <a:pt x="0" y="0"/>
                </a:lnTo>
                <a:lnTo>
                  <a:pt x="0" y="1682369"/>
                </a:lnTo>
                <a:lnTo>
                  <a:pt x="1864120" y="1682369"/>
                </a:lnTo>
                <a:lnTo>
                  <a:pt x="1864120" y="0"/>
                </a:lnTo>
                <a:close/>
              </a:path>
            </a:pathLst>
          </a:custGeom>
          <a:blipFill>
            <a:blip r:embed="rId8">
              <a:alphaModFix amt="14000"/>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18" id="18"/>
          <p:cNvSpPr txBox="true"/>
          <p:nvPr/>
        </p:nvSpPr>
        <p:spPr>
          <a:xfrm rot="0">
            <a:off x="6737643" y="2843802"/>
            <a:ext cx="10594161" cy="4275835"/>
          </a:xfrm>
          <a:prstGeom prst="rect">
            <a:avLst/>
          </a:prstGeom>
        </p:spPr>
        <p:txBody>
          <a:bodyPr anchor="t" rtlCol="false" tIns="0" lIns="0" bIns="0" rIns="0">
            <a:spAutoFit/>
          </a:bodyPr>
          <a:lstStyle/>
          <a:p>
            <a:pPr algn="l" marL="0" indent="0" lvl="0">
              <a:lnSpc>
                <a:spcPts val="2823"/>
              </a:lnSpc>
            </a:pPr>
            <a:r>
              <a:rPr lang="en-US" sz="2971" spc="-101">
                <a:solidFill>
                  <a:srgbClr val="FFFFFF"/>
                </a:solidFill>
                <a:latin typeface="Arimo"/>
                <a:ea typeface="Arimo"/>
                <a:cs typeface="Arimo"/>
                <a:sym typeface="Arimo"/>
              </a:rPr>
              <a:t>In the rapidly evolving digital age, understanding students’ social media usage patterns and their impact on academic performance and mental well-being is crucial for educators, p</a:t>
            </a:r>
            <a:r>
              <a:rPr lang="en-US" sz="2971" spc="-101">
                <a:solidFill>
                  <a:srgbClr val="FFFFFF"/>
                </a:solidFill>
                <a:latin typeface="Arimo"/>
                <a:ea typeface="Arimo"/>
                <a:cs typeface="Arimo"/>
                <a:sym typeface="Arimo"/>
              </a:rPr>
              <a:t>arents, and policymakers. However, the vast and complex nature of social media data presents significant challenges. This research must analyze detailed information on screen time, app preferences, engagement activities, and behavioral patterns. The sheer volume and constantly changing nature of students’ online interactions can be overwhelming to monitor and interpret. Additionally, issues like self-reported inaccuracies, privacy concerns, and ethical considerations further complicate the analysis.</a:t>
            </a:r>
          </a:p>
          <a:p>
            <a:pPr algn="l" marL="0" indent="0" lvl="0">
              <a:lnSpc>
                <a:spcPts val="2823"/>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546385" y="2710643"/>
            <a:ext cx="10941896" cy="5838591"/>
            <a:chOff x="0" y="0"/>
            <a:chExt cx="2995375" cy="1598331"/>
          </a:xfrm>
        </p:grpSpPr>
        <p:sp>
          <p:nvSpPr>
            <p:cNvPr name="Freeform 4" id="4"/>
            <p:cNvSpPr/>
            <p:nvPr/>
          </p:nvSpPr>
          <p:spPr>
            <a:xfrm flipH="false" flipV="false" rot="0">
              <a:off x="0" y="0"/>
              <a:ext cx="2995375" cy="1598331"/>
            </a:xfrm>
            <a:custGeom>
              <a:avLst/>
              <a:gdLst/>
              <a:ahLst/>
              <a:cxnLst/>
              <a:rect r="r" b="b" t="t" l="l"/>
              <a:pathLst>
                <a:path h="1598331" w="2995375">
                  <a:moveTo>
                    <a:pt x="0" y="0"/>
                  </a:moveTo>
                  <a:lnTo>
                    <a:pt x="2995375" y="0"/>
                  </a:lnTo>
                  <a:lnTo>
                    <a:pt x="2995375" y="1598331"/>
                  </a:lnTo>
                  <a:lnTo>
                    <a:pt x="0" y="1598331"/>
                  </a:lnTo>
                  <a:close/>
                </a:path>
              </a:pathLst>
            </a:custGeom>
            <a:solidFill>
              <a:srgbClr val="0B84CE"/>
            </a:solidFill>
          </p:spPr>
        </p:sp>
        <p:sp>
          <p:nvSpPr>
            <p:cNvPr name="TextBox 5" id="5"/>
            <p:cNvSpPr txBox="true"/>
            <p:nvPr/>
          </p:nvSpPr>
          <p:spPr>
            <a:xfrm>
              <a:off x="0" y="-47625"/>
              <a:ext cx="2995375" cy="1645956"/>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6483168">
            <a:off x="12334818" y="7076141"/>
            <a:ext cx="13780926" cy="5521740"/>
          </a:xfrm>
          <a:custGeom>
            <a:avLst/>
            <a:gdLst/>
            <a:ahLst/>
            <a:cxnLst/>
            <a:rect r="r" b="b" t="t" l="l"/>
            <a:pathLst>
              <a:path h="5521740" w="13780926">
                <a:moveTo>
                  <a:pt x="0" y="0"/>
                </a:moveTo>
                <a:lnTo>
                  <a:pt x="13780926" y="0"/>
                </a:lnTo>
                <a:lnTo>
                  <a:pt x="13780926" y="5521740"/>
                </a:lnTo>
                <a:lnTo>
                  <a:pt x="0" y="5521740"/>
                </a:lnTo>
                <a:lnTo>
                  <a:pt x="0" y="0"/>
                </a:lnTo>
                <a:close/>
              </a:path>
            </a:pathLst>
          </a:custGeom>
          <a:blipFill>
            <a:blip r:embed="rId3"/>
            <a:stretch>
              <a:fillRect l="0" t="-53466" r="0" b="-12813"/>
            </a:stretch>
          </a:blipFill>
        </p:spPr>
      </p:sp>
      <p:sp>
        <p:nvSpPr>
          <p:cNvPr name="Freeform 7" id="7"/>
          <p:cNvSpPr/>
          <p:nvPr/>
        </p:nvSpPr>
        <p:spPr>
          <a:xfrm flipH="false" flipV="false" rot="-6978902">
            <a:off x="16254104" y="7268244"/>
            <a:ext cx="2155401" cy="5648203"/>
          </a:xfrm>
          <a:custGeom>
            <a:avLst/>
            <a:gdLst/>
            <a:ahLst/>
            <a:cxnLst/>
            <a:rect r="r" b="b" t="t" l="l"/>
            <a:pathLst>
              <a:path h="5648203" w="2155401">
                <a:moveTo>
                  <a:pt x="0" y="0"/>
                </a:moveTo>
                <a:lnTo>
                  <a:pt x="2155401" y="0"/>
                </a:lnTo>
                <a:lnTo>
                  <a:pt x="2155401" y="5648202"/>
                </a:lnTo>
                <a:lnTo>
                  <a:pt x="0" y="5648202"/>
                </a:lnTo>
                <a:lnTo>
                  <a:pt x="0" y="0"/>
                </a:lnTo>
                <a:close/>
              </a:path>
            </a:pathLst>
          </a:custGeom>
          <a:blipFill>
            <a:blip r:embed="rId4"/>
            <a:stretch>
              <a:fillRect l="-145976" t="-11036" r="-190751" b="0"/>
            </a:stretch>
          </a:blipFill>
        </p:spPr>
      </p:sp>
      <p:sp>
        <p:nvSpPr>
          <p:cNvPr name="Freeform 8" id="8"/>
          <p:cNvSpPr/>
          <p:nvPr/>
        </p:nvSpPr>
        <p:spPr>
          <a:xfrm flipH="false" flipV="false" rot="-7477800">
            <a:off x="-402412" y="-3605611"/>
            <a:ext cx="3980761" cy="8080124"/>
          </a:xfrm>
          <a:custGeom>
            <a:avLst/>
            <a:gdLst/>
            <a:ahLst/>
            <a:cxnLst/>
            <a:rect r="r" b="b" t="t" l="l"/>
            <a:pathLst>
              <a:path h="8080124" w="3980761">
                <a:moveTo>
                  <a:pt x="0" y="0"/>
                </a:moveTo>
                <a:lnTo>
                  <a:pt x="3980760" y="0"/>
                </a:lnTo>
                <a:lnTo>
                  <a:pt x="3980760" y="8080124"/>
                </a:lnTo>
                <a:lnTo>
                  <a:pt x="0" y="8080124"/>
                </a:lnTo>
                <a:lnTo>
                  <a:pt x="0" y="0"/>
                </a:lnTo>
                <a:close/>
              </a:path>
            </a:pathLst>
          </a:custGeom>
          <a:blipFill>
            <a:blip r:embed="rId4"/>
            <a:stretch>
              <a:fillRect l="-100468" t="-11036" r="-137814" b="0"/>
            </a:stretch>
          </a:blipFill>
        </p:spPr>
      </p:sp>
      <p:sp>
        <p:nvSpPr>
          <p:cNvPr name="TextBox 9" id="9"/>
          <p:cNvSpPr txBox="true"/>
          <p:nvPr/>
        </p:nvSpPr>
        <p:spPr>
          <a:xfrm rot="0">
            <a:off x="6313885" y="1362483"/>
            <a:ext cx="12911397" cy="947438"/>
          </a:xfrm>
          <a:prstGeom prst="rect">
            <a:avLst/>
          </a:prstGeom>
        </p:spPr>
        <p:txBody>
          <a:bodyPr anchor="t" rtlCol="false" tIns="0" lIns="0" bIns="0" rIns="0">
            <a:spAutoFit/>
          </a:bodyPr>
          <a:lstStyle/>
          <a:p>
            <a:pPr algn="l" marL="0" indent="0" lvl="0">
              <a:lnSpc>
                <a:spcPts val="6538"/>
              </a:lnSpc>
              <a:spcBef>
                <a:spcPct val="0"/>
              </a:spcBef>
            </a:pPr>
            <a:r>
              <a:rPr lang="en-US" b="true" sz="7603" spc="-258">
                <a:solidFill>
                  <a:srgbClr val="000000"/>
                </a:solidFill>
                <a:latin typeface="Arimo Bold"/>
                <a:ea typeface="Arimo Bold"/>
                <a:cs typeface="Arimo Bold"/>
                <a:sym typeface="Arimo Bold"/>
              </a:rPr>
              <a:t>WHAT DO</a:t>
            </a:r>
            <a:r>
              <a:rPr lang="en-US" b="true" sz="7603" spc="-258">
                <a:solidFill>
                  <a:srgbClr val="000000"/>
                </a:solidFill>
                <a:latin typeface="Arimo Bold"/>
                <a:ea typeface="Arimo Bold"/>
                <a:cs typeface="Arimo Bold"/>
                <a:sym typeface="Arimo Bold"/>
              </a:rPr>
              <a:t>ES IT PREDICT ?</a:t>
            </a:r>
          </a:p>
        </p:txBody>
      </p:sp>
      <p:sp>
        <p:nvSpPr>
          <p:cNvPr name="Freeform 10" id="10"/>
          <p:cNvSpPr/>
          <p:nvPr/>
        </p:nvSpPr>
        <p:spPr>
          <a:xfrm flipH="false" flipV="false" rot="1595541">
            <a:off x="14905117" y="614270"/>
            <a:ext cx="2143063" cy="2472765"/>
          </a:xfrm>
          <a:custGeom>
            <a:avLst/>
            <a:gdLst/>
            <a:ahLst/>
            <a:cxnLst/>
            <a:rect r="r" b="b" t="t" l="l"/>
            <a:pathLst>
              <a:path h="2472765" w="2143063">
                <a:moveTo>
                  <a:pt x="0" y="0"/>
                </a:moveTo>
                <a:lnTo>
                  <a:pt x="2143063" y="0"/>
                </a:lnTo>
                <a:lnTo>
                  <a:pt x="2143063" y="2472765"/>
                </a:lnTo>
                <a:lnTo>
                  <a:pt x="0" y="2472765"/>
                </a:lnTo>
                <a:lnTo>
                  <a:pt x="0" y="0"/>
                </a:lnTo>
                <a:close/>
              </a:path>
            </a:pathLst>
          </a:custGeom>
          <a:blipFill>
            <a:blip r:embed="rId5">
              <a:alphaModFix amt="14000"/>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true" flipV="false" rot="590801">
            <a:off x="4049128" y="7100000"/>
            <a:ext cx="1864120" cy="1682369"/>
          </a:xfrm>
          <a:custGeom>
            <a:avLst/>
            <a:gdLst/>
            <a:ahLst/>
            <a:cxnLst/>
            <a:rect r="r" b="b" t="t" l="l"/>
            <a:pathLst>
              <a:path h="1682369" w="1864120">
                <a:moveTo>
                  <a:pt x="1864120" y="0"/>
                </a:moveTo>
                <a:lnTo>
                  <a:pt x="0" y="0"/>
                </a:lnTo>
                <a:lnTo>
                  <a:pt x="0" y="1682369"/>
                </a:lnTo>
                <a:lnTo>
                  <a:pt x="1864120" y="1682369"/>
                </a:lnTo>
                <a:lnTo>
                  <a:pt x="186412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2" id="12"/>
          <p:cNvSpPr/>
          <p:nvPr/>
        </p:nvSpPr>
        <p:spPr>
          <a:xfrm flipH="false" flipV="false" rot="0">
            <a:off x="519350" y="3139923"/>
            <a:ext cx="5524021" cy="5409310"/>
          </a:xfrm>
          <a:custGeom>
            <a:avLst/>
            <a:gdLst/>
            <a:ahLst/>
            <a:cxnLst/>
            <a:rect r="r" b="b" t="t" l="l"/>
            <a:pathLst>
              <a:path h="5409310" w="5524021">
                <a:moveTo>
                  <a:pt x="0" y="0"/>
                </a:moveTo>
                <a:lnTo>
                  <a:pt x="5524021" y="0"/>
                </a:lnTo>
                <a:lnTo>
                  <a:pt x="5524021" y="5409310"/>
                </a:lnTo>
                <a:lnTo>
                  <a:pt x="0" y="5409310"/>
                </a:lnTo>
                <a:lnTo>
                  <a:pt x="0" y="0"/>
                </a:lnTo>
                <a:close/>
              </a:path>
            </a:pathLst>
          </a:custGeom>
          <a:blipFill>
            <a:blip r:embed="rId9"/>
            <a:stretch>
              <a:fillRect l="-31628" t="0" r="-42457" b="0"/>
            </a:stretch>
          </a:blipFill>
        </p:spPr>
      </p:sp>
      <p:sp>
        <p:nvSpPr>
          <p:cNvPr name="TextBox 13" id="13"/>
          <p:cNvSpPr txBox="true"/>
          <p:nvPr/>
        </p:nvSpPr>
        <p:spPr>
          <a:xfrm rot="0">
            <a:off x="6422560" y="3187548"/>
            <a:ext cx="10594161" cy="5333110"/>
          </a:xfrm>
          <a:prstGeom prst="rect">
            <a:avLst/>
          </a:prstGeom>
        </p:spPr>
        <p:txBody>
          <a:bodyPr anchor="t" rtlCol="false" tIns="0" lIns="0" bIns="0" rIns="0">
            <a:spAutoFit/>
          </a:bodyPr>
          <a:lstStyle/>
          <a:p>
            <a:pPr algn="just" marL="641650" indent="-320825" lvl="1">
              <a:lnSpc>
                <a:spcPts val="2823"/>
              </a:lnSpc>
              <a:buFont typeface="Arial"/>
              <a:buChar char="•"/>
            </a:pPr>
            <a:r>
              <a:rPr lang="en-US" sz="2971" spc="-101">
                <a:solidFill>
                  <a:srgbClr val="FFFFFF"/>
                </a:solidFill>
                <a:latin typeface="Arimo"/>
                <a:ea typeface="Arimo"/>
                <a:cs typeface="Arimo"/>
                <a:sym typeface="Arimo"/>
              </a:rPr>
              <a:t>This step involves collecting students’ social media usage data, cleaning it, and preparing it for analysis. Preprocessing might include removing inconsistencies, normalizing screen time data, and extracting relevant behavioral indicators.</a:t>
            </a:r>
          </a:p>
          <a:p>
            <a:pPr algn="just">
              <a:lnSpc>
                <a:spcPts val="2823"/>
              </a:lnSpc>
            </a:pPr>
          </a:p>
          <a:p>
            <a:pPr algn="just" marL="641650" indent="-320825" lvl="1">
              <a:lnSpc>
                <a:spcPts val="2823"/>
              </a:lnSpc>
              <a:buFont typeface="Arial"/>
              <a:buChar char="•"/>
            </a:pPr>
            <a:r>
              <a:rPr lang="en-US" sz="2971" spc="-101">
                <a:solidFill>
                  <a:srgbClr val="FFFFFF"/>
                </a:solidFill>
                <a:latin typeface="Arimo"/>
                <a:ea typeface="Arimo"/>
                <a:cs typeface="Arimo"/>
                <a:sym typeface="Arimo"/>
              </a:rPr>
              <a:t>After analysis, the model predicts the likelihood or severity of social media addiction among students. Techniques such as clustering, classification, and cross-validation can be used to ensure the model’s accuracy and reliability.</a:t>
            </a:r>
          </a:p>
          <a:p>
            <a:pPr algn="just">
              <a:lnSpc>
                <a:spcPts val="2823"/>
              </a:lnSpc>
            </a:pPr>
          </a:p>
          <a:p>
            <a:pPr algn="just" marL="641650" indent="-320825" lvl="1">
              <a:lnSpc>
                <a:spcPts val="2823"/>
              </a:lnSpc>
              <a:buFont typeface="Arial"/>
              <a:buChar char="•"/>
            </a:pPr>
            <a:r>
              <a:rPr lang="en-US" sz="2971" spc="-101">
                <a:solidFill>
                  <a:srgbClr val="FFFFFF"/>
                </a:solidFill>
                <a:latin typeface="Arimo"/>
                <a:ea typeface="Arimo"/>
                <a:cs typeface="Arimo"/>
                <a:sym typeface="Arimo"/>
              </a:rPr>
              <a:t>It can predict risk levels and possible impacts on academic performance, mental health, and social well-being, helping educators and counselors design targeted awareness or intervention strategies.</a:t>
            </a:r>
          </a:p>
          <a:p>
            <a:pPr algn="just">
              <a:lnSpc>
                <a:spcPts val="2823"/>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777906" y="99687"/>
            <a:ext cx="6732188" cy="929013"/>
            <a:chOff x="0" y="0"/>
            <a:chExt cx="1804787" cy="249053"/>
          </a:xfrm>
        </p:grpSpPr>
        <p:sp>
          <p:nvSpPr>
            <p:cNvPr name="Freeform 4" id="4"/>
            <p:cNvSpPr/>
            <p:nvPr/>
          </p:nvSpPr>
          <p:spPr>
            <a:xfrm flipH="false" flipV="false" rot="0">
              <a:off x="0" y="0"/>
              <a:ext cx="1804787" cy="249053"/>
            </a:xfrm>
            <a:custGeom>
              <a:avLst/>
              <a:gdLst/>
              <a:ahLst/>
              <a:cxnLst/>
              <a:rect r="r" b="b" t="t" l="l"/>
              <a:pathLst>
                <a:path h="249053" w="1804787">
                  <a:moveTo>
                    <a:pt x="0" y="0"/>
                  </a:moveTo>
                  <a:lnTo>
                    <a:pt x="1804787" y="0"/>
                  </a:lnTo>
                  <a:lnTo>
                    <a:pt x="1804787" y="249053"/>
                  </a:lnTo>
                  <a:lnTo>
                    <a:pt x="0" y="249053"/>
                  </a:lnTo>
                  <a:close/>
                </a:path>
              </a:pathLst>
            </a:custGeom>
            <a:solidFill>
              <a:srgbClr val="0B84CE"/>
            </a:solidFill>
            <a:ln cap="sq">
              <a:noFill/>
              <a:prstDash val="solid"/>
              <a:miter/>
            </a:ln>
          </p:spPr>
        </p:sp>
        <p:sp>
          <p:nvSpPr>
            <p:cNvPr name="TextBox 5" id="5"/>
            <p:cNvSpPr txBox="true"/>
            <p:nvPr/>
          </p:nvSpPr>
          <p:spPr>
            <a:xfrm>
              <a:off x="0" y="-28575"/>
              <a:ext cx="1804787" cy="277628"/>
            </a:xfrm>
            <a:prstGeom prst="rect">
              <a:avLst/>
            </a:prstGeom>
          </p:spPr>
          <p:txBody>
            <a:bodyPr anchor="ctr" rtlCol="false" tIns="45153" lIns="45153" bIns="45153" rIns="45153"/>
            <a:lstStyle/>
            <a:p>
              <a:pPr algn="ctr">
                <a:lnSpc>
                  <a:spcPts val="2364"/>
                </a:lnSpc>
              </a:pPr>
            </a:p>
          </p:txBody>
        </p:sp>
      </p:grpSp>
      <p:sp>
        <p:nvSpPr>
          <p:cNvPr name="Freeform 6" id="6"/>
          <p:cNvSpPr/>
          <p:nvPr/>
        </p:nvSpPr>
        <p:spPr>
          <a:xfrm flipH="false" flipV="false" rot="6483168">
            <a:off x="12334818" y="7076141"/>
            <a:ext cx="13780926" cy="5521740"/>
          </a:xfrm>
          <a:custGeom>
            <a:avLst/>
            <a:gdLst/>
            <a:ahLst/>
            <a:cxnLst/>
            <a:rect r="r" b="b" t="t" l="l"/>
            <a:pathLst>
              <a:path h="5521740" w="13780926">
                <a:moveTo>
                  <a:pt x="0" y="0"/>
                </a:moveTo>
                <a:lnTo>
                  <a:pt x="13780926" y="0"/>
                </a:lnTo>
                <a:lnTo>
                  <a:pt x="13780926" y="5521740"/>
                </a:lnTo>
                <a:lnTo>
                  <a:pt x="0" y="5521740"/>
                </a:lnTo>
                <a:lnTo>
                  <a:pt x="0" y="0"/>
                </a:lnTo>
                <a:close/>
              </a:path>
            </a:pathLst>
          </a:custGeom>
          <a:blipFill>
            <a:blip r:embed="rId3"/>
            <a:stretch>
              <a:fillRect l="0" t="-53466" r="0" b="-12813"/>
            </a:stretch>
          </a:blipFill>
        </p:spPr>
      </p:sp>
      <p:sp>
        <p:nvSpPr>
          <p:cNvPr name="Freeform 7" id="7"/>
          <p:cNvSpPr/>
          <p:nvPr/>
        </p:nvSpPr>
        <p:spPr>
          <a:xfrm flipH="false" flipV="false" rot="-7477800">
            <a:off x="-904829" y="-5321397"/>
            <a:ext cx="3980761" cy="8080124"/>
          </a:xfrm>
          <a:custGeom>
            <a:avLst/>
            <a:gdLst/>
            <a:ahLst/>
            <a:cxnLst/>
            <a:rect r="r" b="b" t="t" l="l"/>
            <a:pathLst>
              <a:path h="8080124" w="3980761">
                <a:moveTo>
                  <a:pt x="0" y="0"/>
                </a:moveTo>
                <a:lnTo>
                  <a:pt x="3980761" y="0"/>
                </a:lnTo>
                <a:lnTo>
                  <a:pt x="3980761" y="8080124"/>
                </a:lnTo>
                <a:lnTo>
                  <a:pt x="0" y="8080124"/>
                </a:lnTo>
                <a:lnTo>
                  <a:pt x="0" y="0"/>
                </a:lnTo>
                <a:close/>
              </a:path>
            </a:pathLst>
          </a:custGeom>
          <a:blipFill>
            <a:blip r:embed="rId4"/>
            <a:stretch>
              <a:fillRect l="-100468" t="-11036" r="-137814" b="0"/>
            </a:stretch>
          </a:blipFill>
        </p:spPr>
      </p:sp>
      <p:sp>
        <p:nvSpPr>
          <p:cNvPr name="Freeform 8" id="8"/>
          <p:cNvSpPr/>
          <p:nvPr/>
        </p:nvSpPr>
        <p:spPr>
          <a:xfrm flipH="false" flipV="false" rot="1595541">
            <a:off x="1390067" y="3594705"/>
            <a:ext cx="1495227" cy="1725261"/>
          </a:xfrm>
          <a:custGeom>
            <a:avLst/>
            <a:gdLst/>
            <a:ahLst/>
            <a:cxnLst/>
            <a:rect r="r" b="b" t="t" l="l"/>
            <a:pathLst>
              <a:path h="1725261" w="1495227">
                <a:moveTo>
                  <a:pt x="0" y="0"/>
                </a:moveTo>
                <a:lnTo>
                  <a:pt x="1495227" y="0"/>
                </a:lnTo>
                <a:lnTo>
                  <a:pt x="1495227" y="1725262"/>
                </a:lnTo>
                <a:lnTo>
                  <a:pt x="0" y="1725262"/>
                </a:lnTo>
                <a:lnTo>
                  <a:pt x="0" y="0"/>
                </a:lnTo>
                <a:close/>
              </a:path>
            </a:pathLst>
          </a:custGeom>
          <a:blipFill>
            <a:blip r:embed="rId5">
              <a:alphaModFix amt="14000"/>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9" id="9"/>
          <p:cNvSpPr/>
          <p:nvPr/>
        </p:nvSpPr>
        <p:spPr>
          <a:xfrm flipH="true" flipV="false" rot="590801">
            <a:off x="14496871" y="3571747"/>
            <a:ext cx="1864120" cy="1682369"/>
          </a:xfrm>
          <a:custGeom>
            <a:avLst/>
            <a:gdLst/>
            <a:ahLst/>
            <a:cxnLst/>
            <a:rect r="r" b="b" t="t" l="l"/>
            <a:pathLst>
              <a:path h="1682369" w="1864120">
                <a:moveTo>
                  <a:pt x="1864120" y="0"/>
                </a:moveTo>
                <a:lnTo>
                  <a:pt x="0" y="0"/>
                </a:lnTo>
                <a:lnTo>
                  <a:pt x="0" y="1682369"/>
                </a:lnTo>
                <a:lnTo>
                  <a:pt x="1864120" y="1682369"/>
                </a:lnTo>
                <a:lnTo>
                  <a:pt x="186412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0" id="10"/>
          <p:cNvSpPr/>
          <p:nvPr/>
        </p:nvSpPr>
        <p:spPr>
          <a:xfrm flipH="false" flipV="false" rot="0">
            <a:off x="1028700" y="1726231"/>
            <a:ext cx="15410883" cy="7532069"/>
          </a:xfrm>
          <a:custGeom>
            <a:avLst/>
            <a:gdLst/>
            <a:ahLst/>
            <a:cxnLst/>
            <a:rect r="r" b="b" t="t" l="l"/>
            <a:pathLst>
              <a:path h="7532069" w="15410883">
                <a:moveTo>
                  <a:pt x="0" y="0"/>
                </a:moveTo>
                <a:lnTo>
                  <a:pt x="15410883" y="0"/>
                </a:lnTo>
                <a:lnTo>
                  <a:pt x="15410883" y="7532069"/>
                </a:lnTo>
                <a:lnTo>
                  <a:pt x="0" y="7532069"/>
                </a:lnTo>
                <a:lnTo>
                  <a:pt x="0" y="0"/>
                </a:lnTo>
                <a:close/>
              </a:path>
            </a:pathLst>
          </a:custGeom>
          <a:blipFill>
            <a:blip r:embed="rId9"/>
            <a:stretch>
              <a:fillRect l="0" t="0" r="0" b="0"/>
            </a:stretch>
          </a:blipFill>
        </p:spPr>
      </p:sp>
      <p:sp>
        <p:nvSpPr>
          <p:cNvPr name="TextBox 11" id="11"/>
          <p:cNvSpPr txBox="true"/>
          <p:nvPr/>
        </p:nvSpPr>
        <p:spPr>
          <a:xfrm rot="0">
            <a:off x="6171644" y="359028"/>
            <a:ext cx="5944712" cy="524632"/>
          </a:xfrm>
          <a:prstGeom prst="rect">
            <a:avLst/>
          </a:prstGeom>
        </p:spPr>
        <p:txBody>
          <a:bodyPr anchor="t" rtlCol="false" tIns="0" lIns="0" bIns="0" rIns="0">
            <a:spAutoFit/>
          </a:bodyPr>
          <a:lstStyle/>
          <a:p>
            <a:pPr algn="ctr" marL="0" indent="0" lvl="0">
              <a:lnSpc>
                <a:spcPts val="3619"/>
              </a:lnSpc>
            </a:pPr>
            <a:r>
              <a:rPr lang="en-US" sz="4208" spc="-143">
                <a:solidFill>
                  <a:srgbClr val="FFFFFF"/>
                </a:solidFill>
                <a:latin typeface="Arimo"/>
                <a:ea typeface="Arimo"/>
                <a:cs typeface="Arimo"/>
                <a:sym typeface="Arimo"/>
              </a:rPr>
              <a:t>EXCEL DASHBOARD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5864231" y="564194"/>
            <a:ext cx="6732188" cy="929013"/>
            <a:chOff x="0" y="0"/>
            <a:chExt cx="1804787" cy="249053"/>
          </a:xfrm>
        </p:grpSpPr>
        <p:sp>
          <p:nvSpPr>
            <p:cNvPr name="Freeform 4" id="4"/>
            <p:cNvSpPr/>
            <p:nvPr/>
          </p:nvSpPr>
          <p:spPr>
            <a:xfrm flipH="false" flipV="false" rot="0">
              <a:off x="0" y="0"/>
              <a:ext cx="1804787" cy="249053"/>
            </a:xfrm>
            <a:custGeom>
              <a:avLst/>
              <a:gdLst/>
              <a:ahLst/>
              <a:cxnLst/>
              <a:rect r="r" b="b" t="t" l="l"/>
              <a:pathLst>
                <a:path h="249053" w="1804787">
                  <a:moveTo>
                    <a:pt x="0" y="0"/>
                  </a:moveTo>
                  <a:lnTo>
                    <a:pt x="1804787" y="0"/>
                  </a:lnTo>
                  <a:lnTo>
                    <a:pt x="1804787" y="249053"/>
                  </a:lnTo>
                  <a:lnTo>
                    <a:pt x="0" y="249053"/>
                  </a:lnTo>
                  <a:close/>
                </a:path>
              </a:pathLst>
            </a:custGeom>
            <a:solidFill>
              <a:srgbClr val="0B84CE"/>
            </a:solidFill>
            <a:ln cap="sq">
              <a:noFill/>
              <a:prstDash val="solid"/>
              <a:miter/>
            </a:ln>
          </p:spPr>
        </p:sp>
        <p:sp>
          <p:nvSpPr>
            <p:cNvPr name="TextBox 5" id="5"/>
            <p:cNvSpPr txBox="true"/>
            <p:nvPr/>
          </p:nvSpPr>
          <p:spPr>
            <a:xfrm>
              <a:off x="0" y="-28575"/>
              <a:ext cx="1804787" cy="277628"/>
            </a:xfrm>
            <a:prstGeom prst="rect">
              <a:avLst/>
            </a:prstGeom>
          </p:spPr>
          <p:txBody>
            <a:bodyPr anchor="ctr" rtlCol="false" tIns="45153" lIns="45153" bIns="45153" rIns="45153"/>
            <a:lstStyle/>
            <a:p>
              <a:pPr algn="ctr">
                <a:lnSpc>
                  <a:spcPts val="2364"/>
                </a:lnSpc>
              </a:pPr>
            </a:p>
          </p:txBody>
        </p:sp>
      </p:grpSp>
      <p:sp>
        <p:nvSpPr>
          <p:cNvPr name="Freeform 6" id="6"/>
          <p:cNvSpPr/>
          <p:nvPr/>
        </p:nvSpPr>
        <p:spPr>
          <a:xfrm flipH="false" flipV="false" rot="6483168">
            <a:off x="12334818" y="7076141"/>
            <a:ext cx="13780926" cy="5521740"/>
          </a:xfrm>
          <a:custGeom>
            <a:avLst/>
            <a:gdLst/>
            <a:ahLst/>
            <a:cxnLst/>
            <a:rect r="r" b="b" t="t" l="l"/>
            <a:pathLst>
              <a:path h="5521740" w="13780926">
                <a:moveTo>
                  <a:pt x="0" y="0"/>
                </a:moveTo>
                <a:lnTo>
                  <a:pt x="13780926" y="0"/>
                </a:lnTo>
                <a:lnTo>
                  <a:pt x="13780926" y="5521740"/>
                </a:lnTo>
                <a:lnTo>
                  <a:pt x="0" y="5521740"/>
                </a:lnTo>
                <a:lnTo>
                  <a:pt x="0" y="0"/>
                </a:lnTo>
                <a:close/>
              </a:path>
            </a:pathLst>
          </a:custGeom>
          <a:blipFill>
            <a:blip r:embed="rId3"/>
            <a:stretch>
              <a:fillRect l="0" t="-53466" r="0" b="-12813"/>
            </a:stretch>
          </a:blipFill>
        </p:spPr>
      </p:sp>
      <p:sp>
        <p:nvSpPr>
          <p:cNvPr name="Freeform 7" id="7"/>
          <p:cNvSpPr/>
          <p:nvPr/>
        </p:nvSpPr>
        <p:spPr>
          <a:xfrm flipH="false" flipV="false" rot="-7477800">
            <a:off x="-904829" y="-5321397"/>
            <a:ext cx="3980761" cy="8080124"/>
          </a:xfrm>
          <a:custGeom>
            <a:avLst/>
            <a:gdLst/>
            <a:ahLst/>
            <a:cxnLst/>
            <a:rect r="r" b="b" t="t" l="l"/>
            <a:pathLst>
              <a:path h="8080124" w="3980761">
                <a:moveTo>
                  <a:pt x="0" y="0"/>
                </a:moveTo>
                <a:lnTo>
                  <a:pt x="3980761" y="0"/>
                </a:lnTo>
                <a:lnTo>
                  <a:pt x="3980761" y="8080124"/>
                </a:lnTo>
                <a:lnTo>
                  <a:pt x="0" y="8080124"/>
                </a:lnTo>
                <a:lnTo>
                  <a:pt x="0" y="0"/>
                </a:lnTo>
                <a:close/>
              </a:path>
            </a:pathLst>
          </a:custGeom>
          <a:blipFill>
            <a:blip r:embed="rId4"/>
            <a:stretch>
              <a:fillRect l="-100468" t="-11036" r="-137814" b="0"/>
            </a:stretch>
          </a:blipFill>
        </p:spPr>
      </p:sp>
      <p:sp>
        <p:nvSpPr>
          <p:cNvPr name="Freeform 8" id="8"/>
          <p:cNvSpPr/>
          <p:nvPr/>
        </p:nvSpPr>
        <p:spPr>
          <a:xfrm flipH="false" flipV="false" rot="1595541">
            <a:off x="1390067" y="3594705"/>
            <a:ext cx="1495227" cy="1725261"/>
          </a:xfrm>
          <a:custGeom>
            <a:avLst/>
            <a:gdLst/>
            <a:ahLst/>
            <a:cxnLst/>
            <a:rect r="r" b="b" t="t" l="l"/>
            <a:pathLst>
              <a:path h="1725261" w="1495227">
                <a:moveTo>
                  <a:pt x="0" y="0"/>
                </a:moveTo>
                <a:lnTo>
                  <a:pt x="1495227" y="0"/>
                </a:lnTo>
                <a:lnTo>
                  <a:pt x="1495227" y="1725262"/>
                </a:lnTo>
                <a:lnTo>
                  <a:pt x="0" y="1725262"/>
                </a:lnTo>
                <a:lnTo>
                  <a:pt x="0" y="0"/>
                </a:lnTo>
                <a:close/>
              </a:path>
            </a:pathLst>
          </a:custGeom>
          <a:blipFill>
            <a:blip r:embed="rId5">
              <a:alphaModFix amt="14000"/>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9" id="9"/>
          <p:cNvSpPr/>
          <p:nvPr/>
        </p:nvSpPr>
        <p:spPr>
          <a:xfrm flipH="true" flipV="false" rot="590801">
            <a:off x="14496871" y="3571747"/>
            <a:ext cx="1864120" cy="1682369"/>
          </a:xfrm>
          <a:custGeom>
            <a:avLst/>
            <a:gdLst/>
            <a:ahLst/>
            <a:cxnLst/>
            <a:rect r="r" b="b" t="t" l="l"/>
            <a:pathLst>
              <a:path h="1682369" w="1864120">
                <a:moveTo>
                  <a:pt x="1864120" y="0"/>
                </a:moveTo>
                <a:lnTo>
                  <a:pt x="0" y="0"/>
                </a:lnTo>
                <a:lnTo>
                  <a:pt x="0" y="1682369"/>
                </a:lnTo>
                <a:lnTo>
                  <a:pt x="1864120" y="1682369"/>
                </a:lnTo>
                <a:lnTo>
                  <a:pt x="186412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0" id="10"/>
          <p:cNvSpPr/>
          <p:nvPr/>
        </p:nvSpPr>
        <p:spPr>
          <a:xfrm flipH="false" flipV="false" rot="0">
            <a:off x="510662" y="1728066"/>
            <a:ext cx="15980451" cy="7670617"/>
          </a:xfrm>
          <a:custGeom>
            <a:avLst/>
            <a:gdLst/>
            <a:ahLst/>
            <a:cxnLst/>
            <a:rect r="r" b="b" t="t" l="l"/>
            <a:pathLst>
              <a:path h="7670617" w="15980451">
                <a:moveTo>
                  <a:pt x="0" y="0"/>
                </a:moveTo>
                <a:lnTo>
                  <a:pt x="15980452" y="0"/>
                </a:lnTo>
                <a:lnTo>
                  <a:pt x="15980452" y="7670616"/>
                </a:lnTo>
                <a:lnTo>
                  <a:pt x="0" y="7670616"/>
                </a:lnTo>
                <a:lnTo>
                  <a:pt x="0" y="0"/>
                </a:lnTo>
                <a:close/>
              </a:path>
            </a:pathLst>
          </a:custGeom>
          <a:blipFill>
            <a:blip r:embed="rId9"/>
            <a:stretch>
              <a:fillRect l="0" t="0" r="0" b="0"/>
            </a:stretch>
          </a:blipFill>
        </p:spPr>
      </p:sp>
      <p:sp>
        <p:nvSpPr>
          <p:cNvPr name="TextBox 11" id="11"/>
          <p:cNvSpPr txBox="true"/>
          <p:nvPr/>
        </p:nvSpPr>
        <p:spPr>
          <a:xfrm rot="0">
            <a:off x="6257969" y="812503"/>
            <a:ext cx="5944712" cy="777998"/>
          </a:xfrm>
          <a:prstGeom prst="rect">
            <a:avLst/>
          </a:prstGeom>
        </p:spPr>
        <p:txBody>
          <a:bodyPr anchor="t" rtlCol="false" tIns="0" lIns="0" bIns="0" rIns="0">
            <a:spAutoFit/>
          </a:bodyPr>
          <a:lstStyle/>
          <a:p>
            <a:pPr algn="ctr" marL="0" indent="0" lvl="0">
              <a:lnSpc>
                <a:spcPts val="3705"/>
              </a:lnSpc>
            </a:pPr>
            <a:r>
              <a:rPr lang="en-US" sz="4308" spc="-146">
                <a:solidFill>
                  <a:srgbClr val="FFFFFF"/>
                </a:solidFill>
                <a:latin typeface="Arimo"/>
                <a:ea typeface="Arimo"/>
                <a:cs typeface="Arimo"/>
                <a:sym typeface="Arimo"/>
              </a:rPr>
              <a:t>TAB</a:t>
            </a:r>
            <a:r>
              <a:rPr lang="en-US" sz="4308" spc="-146">
                <a:solidFill>
                  <a:srgbClr val="FFFFFF"/>
                </a:solidFill>
                <a:latin typeface="Arimo"/>
                <a:ea typeface="Arimo"/>
                <a:cs typeface="Arimo"/>
                <a:sym typeface="Arimo"/>
              </a:rPr>
              <a:t>LEAU DASHBOARD</a:t>
            </a:r>
          </a:p>
          <a:p>
            <a:pPr algn="ctr" marL="0" indent="0" lvl="0">
              <a:lnSpc>
                <a:spcPts val="2243"/>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7215603" y="1944300"/>
            <a:ext cx="10043697" cy="772703"/>
          </a:xfrm>
          <a:prstGeom prst="rect">
            <a:avLst/>
          </a:prstGeom>
        </p:spPr>
        <p:txBody>
          <a:bodyPr anchor="t" rtlCol="false" tIns="0" lIns="0" bIns="0" rIns="0">
            <a:spAutoFit/>
          </a:bodyPr>
          <a:lstStyle/>
          <a:p>
            <a:pPr algn="l" marL="0" indent="0" lvl="0">
              <a:lnSpc>
                <a:spcPts val="5387"/>
              </a:lnSpc>
              <a:spcBef>
                <a:spcPct val="0"/>
              </a:spcBef>
            </a:pPr>
            <a:r>
              <a:rPr lang="en-US" b="true" sz="6264" spc="-213">
                <a:solidFill>
                  <a:srgbClr val="000000"/>
                </a:solidFill>
                <a:latin typeface="Arimo Bold"/>
                <a:ea typeface="Arimo Bold"/>
                <a:cs typeface="Arimo Bold"/>
                <a:sym typeface="Arimo Bold"/>
              </a:rPr>
              <a:t>CONCLUSION</a:t>
            </a:r>
          </a:p>
        </p:txBody>
      </p:sp>
      <p:sp>
        <p:nvSpPr>
          <p:cNvPr name="TextBox 4" id="4"/>
          <p:cNvSpPr txBox="true"/>
          <p:nvPr/>
        </p:nvSpPr>
        <p:spPr>
          <a:xfrm rot="0">
            <a:off x="7465158" y="2913283"/>
            <a:ext cx="9453913" cy="5591175"/>
          </a:xfrm>
          <a:prstGeom prst="rect">
            <a:avLst/>
          </a:prstGeom>
        </p:spPr>
        <p:txBody>
          <a:bodyPr anchor="t" rtlCol="false" tIns="0" lIns="0" bIns="0" rIns="0">
            <a:spAutoFit/>
          </a:bodyPr>
          <a:lstStyle/>
          <a:p>
            <a:pPr algn="just">
              <a:lnSpc>
                <a:spcPts val="3378"/>
              </a:lnSpc>
            </a:pPr>
            <a:r>
              <a:rPr lang="en-US" sz="2815" spc="-95">
                <a:solidFill>
                  <a:srgbClr val="514160"/>
                </a:solidFill>
                <a:latin typeface="Arimo"/>
                <a:ea typeface="Arimo"/>
                <a:cs typeface="Arimo"/>
                <a:sym typeface="Arimo"/>
              </a:rPr>
              <a:t>Based on the analysis of students’ social media usage, several key insights emerge. Patterns show that excessive time spent on social platforms can negatively affect focus, academic performance, and mental health. Frequent late-night usage and long screen time durations are common, highlighting the need for better digital discipline and awareness among students. The analysis shows that entertainment and social interaction are the main drivers of excessive use, with notifications and peer influence significantly contributing to addictive patterns. The findings emphasize the importance of digital well-being education, parental guidance, and self-regulation tools to help students balance their online and offline lives effectively.</a:t>
            </a:r>
          </a:p>
          <a:p>
            <a:pPr algn="just">
              <a:lnSpc>
                <a:spcPts val="3378"/>
              </a:lnSpc>
            </a:pPr>
          </a:p>
        </p:txBody>
      </p:sp>
      <p:grpSp>
        <p:nvGrpSpPr>
          <p:cNvPr name="Group 5" id="5"/>
          <p:cNvGrpSpPr/>
          <p:nvPr/>
        </p:nvGrpSpPr>
        <p:grpSpPr>
          <a:xfrm rot="0">
            <a:off x="1085552" y="1842279"/>
            <a:ext cx="5796933" cy="6602442"/>
            <a:chOff x="0" y="0"/>
            <a:chExt cx="597301" cy="680299"/>
          </a:xfrm>
        </p:grpSpPr>
        <p:sp>
          <p:nvSpPr>
            <p:cNvPr name="Freeform 6" id="6"/>
            <p:cNvSpPr/>
            <p:nvPr/>
          </p:nvSpPr>
          <p:spPr>
            <a:xfrm flipH="false" flipV="false" rot="0">
              <a:off x="0" y="0"/>
              <a:ext cx="597301" cy="680299"/>
            </a:xfrm>
            <a:custGeom>
              <a:avLst/>
              <a:gdLst/>
              <a:ahLst/>
              <a:cxnLst/>
              <a:rect r="r" b="b" t="t" l="l"/>
              <a:pathLst>
                <a:path h="680299" w="597301">
                  <a:moveTo>
                    <a:pt x="0" y="0"/>
                  </a:moveTo>
                  <a:lnTo>
                    <a:pt x="597301" y="0"/>
                  </a:lnTo>
                  <a:lnTo>
                    <a:pt x="597301" y="680299"/>
                  </a:lnTo>
                  <a:lnTo>
                    <a:pt x="0" y="680299"/>
                  </a:lnTo>
                  <a:close/>
                </a:path>
              </a:pathLst>
            </a:custGeom>
            <a:blipFill>
              <a:blip r:embed="rId3">
                <a:alphaModFix amt="94000"/>
              </a:blip>
              <a:stretch>
                <a:fillRect l="-35474" t="0" r="-35474" b="0"/>
              </a:stretch>
            </a:blipFill>
          </p:spPr>
        </p:sp>
      </p:grpSp>
      <p:sp>
        <p:nvSpPr>
          <p:cNvPr name="Freeform 7" id="7"/>
          <p:cNvSpPr/>
          <p:nvPr/>
        </p:nvSpPr>
        <p:spPr>
          <a:xfrm flipH="false" flipV="false" rot="2933024">
            <a:off x="-360362" y="-2140845"/>
            <a:ext cx="2155401" cy="5648203"/>
          </a:xfrm>
          <a:custGeom>
            <a:avLst/>
            <a:gdLst/>
            <a:ahLst/>
            <a:cxnLst/>
            <a:rect r="r" b="b" t="t" l="l"/>
            <a:pathLst>
              <a:path h="5648203" w="2155401">
                <a:moveTo>
                  <a:pt x="0" y="0"/>
                </a:moveTo>
                <a:lnTo>
                  <a:pt x="2155401" y="0"/>
                </a:lnTo>
                <a:lnTo>
                  <a:pt x="2155401" y="5648202"/>
                </a:lnTo>
                <a:lnTo>
                  <a:pt x="0" y="5648202"/>
                </a:lnTo>
                <a:lnTo>
                  <a:pt x="0" y="0"/>
                </a:lnTo>
                <a:close/>
              </a:path>
            </a:pathLst>
          </a:custGeom>
          <a:blipFill>
            <a:blip r:embed="rId4"/>
            <a:stretch>
              <a:fillRect l="-145976" t="-11036" r="-190751" b="0"/>
            </a:stretch>
          </a:blipFill>
        </p:spPr>
      </p:sp>
      <p:sp>
        <p:nvSpPr>
          <p:cNvPr name="Freeform 8" id="8"/>
          <p:cNvSpPr/>
          <p:nvPr/>
        </p:nvSpPr>
        <p:spPr>
          <a:xfrm flipH="false" flipV="false" rot="-5400000">
            <a:off x="14134129" y="2161971"/>
            <a:ext cx="11772082" cy="5521740"/>
          </a:xfrm>
          <a:custGeom>
            <a:avLst/>
            <a:gdLst/>
            <a:ahLst/>
            <a:cxnLst/>
            <a:rect r="r" b="b" t="t" l="l"/>
            <a:pathLst>
              <a:path h="5521740" w="11772082">
                <a:moveTo>
                  <a:pt x="0" y="0"/>
                </a:moveTo>
                <a:lnTo>
                  <a:pt x="11772082" y="0"/>
                </a:lnTo>
                <a:lnTo>
                  <a:pt x="11772082" y="5521740"/>
                </a:lnTo>
                <a:lnTo>
                  <a:pt x="0" y="5521740"/>
                </a:lnTo>
                <a:lnTo>
                  <a:pt x="0" y="0"/>
                </a:lnTo>
                <a:close/>
              </a:path>
            </a:pathLst>
          </a:custGeom>
          <a:blipFill>
            <a:blip r:embed="rId5"/>
            <a:stretch>
              <a:fillRect l="-15816" t="-52363" r="0" b="-12144"/>
            </a:stretch>
          </a:blipFill>
        </p:spPr>
      </p:sp>
      <p:sp>
        <p:nvSpPr>
          <p:cNvPr name="Freeform 9" id="9"/>
          <p:cNvSpPr/>
          <p:nvPr/>
        </p:nvSpPr>
        <p:spPr>
          <a:xfrm flipH="false" flipV="false" rot="-304013">
            <a:off x="14711764" y="6115745"/>
            <a:ext cx="3486814" cy="2179259"/>
          </a:xfrm>
          <a:custGeom>
            <a:avLst/>
            <a:gdLst/>
            <a:ahLst/>
            <a:cxnLst/>
            <a:rect r="r" b="b" t="t" l="l"/>
            <a:pathLst>
              <a:path h="2179259" w="3486814">
                <a:moveTo>
                  <a:pt x="0" y="0"/>
                </a:moveTo>
                <a:lnTo>
                  <a:pt x="3486814" y="0"/>
                </a:lnTo>
                <a:lnTo>
                  <a:pt x="3486814" y="2179258"/>
                </a:lnTo>
                <a:lnTo>
                  <a:pt x="0" y="2179258"/>
                </a:lnTo>
                <a:lnTo>
                  <a:pt x="0" y="0"/>
                </a:lnTo>
                <a:close/>
              </a:path>
            </a:pathLst>
          </a:custGeom>
          <a:blipFill>
            <a:blip r:embed="rId6">
              <a:alphaModFix amt="14000"/>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1595541">
            <a:off x="5662870" y="900694"/>
            <a:ext cx="1495227" cy="1725261"/>
          </a:xfrm>
          <a:custGeom>
            <a:avLst/>
            <a:gdLst/>
            <a:ahLst/>
            <a:cxnLst/>
            <a:rect r="r" b="b" t="t" l="l"/>
            <a:pathLst>
              <a:path h="1725261" w="1495227">
                <a:moveTo>
                  <a:pt x="0" y="0"/>
                </a:moveTo>
                <a:lnTo>
                  <a:pt x="1495227" y="0"/>
                </a:lnTo>
                <a:lnTo>
                  <a:pt x="1495227" y="1725261"/>
                </a:lnTo>
                <a:lnTo>
                  <a:pt x="0" y="1725261"/>
                </a:lnTo>
                <a:lnTo>
                  <a:pt x="0" y="0"/>
                </a:lnTo>
                <a:close/>
              </a:path>
            </a:pathLst>
          </a:custGeom>
          <a:blipFill>
            <a:blip r:embed="rId8">
              <a:alphaModFix amt="14000"/>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856046" y="1974170"/>
            <a:ext cx="10497165" cy="5464277"/>
            <a:chOff x="0" y="0"/>
            <a:chExt cx="2764685" cy="1439151"/>
          </a:xfrm>
        </p:grpSpPr>
        <p:sp>
          <p:nvSpPr>
            <p:cNvPr name="Freeform 4" id="4"/>
            <p:cNvSpPr/>
            <p:nvPr/>
          </p:nvSpPr>
          <p:spPr>
            <a:xfrm flipH="false" flipV="false" rot="0">
              <a:off x="0" y="0"/>
              <a:ext cx="2764685" cy="1439151"/>
            </a:xfrm>
            <a:custGeom>
              <a:avLst/>
              <a:gdLst/>
              <a:ahLst/>
              <a:cxnLst/>
              <a:rect r="r" b="b" t="t" l="l"/>
              <a:pathLst>
                <a:path h="1439151" w="2764685">
                  <a:moveTo>
                    <a:pt x="0" y="0"/>
                  </a:moveTo>
                  <a:lnTo>
                    <a:pt x="2764685" y="0"/>
                  </a:lnTo>
                  <a:lnTo>
                    <a:pt x="2764685" y="1439151"/>
                  </a:lnTo>
                  <a:lnTo>
                    <a:pt x="0" y="1439151"/>
                  </a:lnTo>
                  <a:close/>
                </a:path>
              </a:pathLst>
            </a:custGeom>
            <a:solidFill>
              <a:srgbClr val="0B84CE"/>
            </a:solidFill>
          </p:spPr>
        </p:sp>
        <p:sp>
          <p:nvSpPr>
            <p:cNvPr name="TextBox 5" id="5"/>
            <p:cNvSpPr txBox="true"/>
            <p:nvPr/>
          </p:nvSpPr>
          <p:spPr>
            <a:xfrm>
              <a:off x="0" y="-47625"/>
              <a:ext cx="2764685" cy="1486776"/>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4051198" y="2689094"/>
            <a:ext cx="10106862" cy="3193037"/>
          </a:xfrm>
          <a:prstGeom prst="rect">
            <a:avLst/>
          </a:prstGeom>
        </p:spPr>
        <p:txBody>
          <a:bodyPr anchor="t" rtlCol="false" tIns="0" lIns="0" bIns="0" rIns="0">
            <a:spAutoFit/>
          </a:bodyPr>
          <a:lstStyle/>
          <a:p>
            <a:pPr algn="ctr" marL="0" indent="0" lvl="0">
              <a:lnSpc>
                <a:spcPts val="11793"/>
              </a:lnSpc>
            </a:pPr>
            <a:r>
              <a:rPr lang="en-US" b="true" sz="14209" spc="-483">
                <a:solidFill>
                  <a:srgbClr val="FFFFFF"/>
                </a:solidFill>
                <a:latin typeface="Arimo Bold"/>
                <a:ea typeface="Arimo Bold"/>
                <a:cs typeface="Arimo Bold"/>
                <a:sym typeface="Arimo Bold"/>
              </a:rPr>
              <a:t>THANK YOU</a:t>
            </a:r>
          </a:p>
        </p:txBody>
      </p:sp>
      <p:sp>
        <p:nvSpPr>
          <p:cNvPr name="TextBox 7" id="7"/>
          <p:cNvSpPr txBox="true"/>
          <p:nvPr/>
        </p:nvSpPr>
        <p:spPr>
          <a:xfrm rot="0">
            <a:off x="4228428" y="6159701"/>
            <a:ext cx="9831144" cy="862864"/>
          </a:xfrm>
          <a:prstGeom prst="rect">
            <a:avLst/>
          </a:prstGeom>
        </p:spPr>
        <p:txBody>
          <a:bodyPr anchor="t" rtlCol="false" tIns="0" lIns="0" bIns="0" rIns="0">
            <a:spAutoFit/>
          </a:bodyPr>
          <a:lstStyle/>
          <a:p>
            <a:pPr algn="ctr" marL="0" indent="0" lvl="0">
              <a:lnSpc>
                <a:spcPts val="3305"/>
              </a:lnSpc>
            </a:pPr>
            <a:r>
              <a:rPr lang="en-US" sz="2977" spc="-101">
                <a:solidFill>
                  <a:srgbClr val="FFFFFF"/>
                </a:solidFill>
                <a:latin typeface="Arimo"/>
                <a:ea typeface="Arimo"/>
                <a:cs typeface="Arimo"/>
                <a:sym typeface="Arimo"/>
              </a:rPr>
              <a:t>Please get in touch with us if you have questions or need clarification on our team's presentation.</a:t>
            </a:r>
          </a:p>
        </p:txBody>
      </p:sp>
      <p:sp>
        <p:nvSpPr>
          <p:cNvPr name="Freeform 8" id="8"/>
          <p:cNvSpPr/>
          <p:nvPr/>
        </p:nvSpPr>
        <p:spPr>
          <a:xfrm flipH="false" flipV="false" rot="6483168">
            <a:off x="12334818" y="7076141"/>
            <a:ext cx="13780926" cy="5521740"/>
          </a:xfrm>
          <a:custGeom>
            <a:avLst/>
            <a:gdLst/>
            <a:ahLst/>
            <a:cxnLst/>
            <a:rect r="r" b="b" t="t" l="l"/>
            <a:pathLst>
              <a:path h="5521740" w="13780926">
                <a:moveTo>
                  <a:pt x="0" y="0"/>
                </a:moveTo>
                <a:lnTo>
                  <a:pt x="13780926" y="0"/>
                </a:lnTo>
                <a:lnTo>
                  <a:pt x="13780926" y="5521740"/>
                </a:lnTo>
                <a:lnTo>
                  <a:pt x="0" y="5521740"/>
                </a:lnTo>
                <a:lnTo>
                  <a:pt x="0" y="0"/>
                </a:lnTo>
                <a:close/>
              </a:path>
            </a:pathLst>
          </a:custGeom>
          <a:blipFill>
            <a:blip r:embed="rId3"/>
            <a:stretch>
              <a:fillRect l="0" t="-53466" r="0" b="-12813"/>
            </a:stretch>
          </a:blipFill>
        </p:spPr>
      </p:sp>
      <p:sp>
        <p:nvSpPr>
          <p:cNvPr name="Freeform 9" id="9"/>
          <p:cNvSpPr/>
          <p:nvPr/>
        </p:nvSpPr>
        <p:spPr>
          <a:xfrm flipH="false" flipV="false" rot="-6978902">
            <a:off x="16254104" y="7268244"/>
            <a:ext cx="2155401" cy="5648203"/>
          </a:xfrm>
          <a:custGeom>
            <a:avLst/>
            <a:gdLst/>
            <a:ahLst/>
            <a:cxnLst/>
            <a:rect r="r" b="b" t="t" l="l"/>
            <a:pathLst>
              <a:path h="5648203" w="2155401">
                <a:moveTo>
                  <a:pt x="0" y="0"/>
                </a:moveTo>
                <a:lnTo>
                  <a:pt x="2155401" y="0"/>
                </a:lnTo>
                <a:lnTo>
                  <a:pt x="2155401" y="5648202"/>
                </a:lnTo>
                <a:lnTo>
                  <a:pt x="0" y="5648202"/>
                </a:lnTo>
                <a:lnTo>
                  <a:pt x="0" y="0"/>
                </a:lnTo>
                <a:close/>
              </a:path>
            </a:pathLst>
          </a:custGeom>
          <a:blipFill>
            <a:blip r:embed="rId4"/>
            <a:stretch>
              <a:fillRect l="-145976" t="-11036" r="-190751" b="0"/>
            </a:stretch>
          </a:blipFill>
        </p:spPr>
      </p:sp>
      <p:sp>
        <p:nvSpPr>
          <p:cNvPr name="Freeform 10" id="10"/>
          <p:cNvSpPr/>
          <p:nvPr/>
        </p:nvSpPr>
        <p:spPr>
          <a:xfrm flipH="false" flipV="false" rot="2933024">
            <a:off x="-360362" y="-1981531"/>
            <a:ext cx="2155401" cy="5648203"/>
          </a:xfrm>
          <a:custGeom>
            <a:avLst/>
            <a:gdLst/>
            <a:ahLst/>
            <a:cxnLst/>
            <a:rect r="r" b="b" t="t" l="l"/>
            <a:pathLst>
              <a:path h="5648203" w="2155401">
                <a:moveTo>
                  <a:pt x="0" y="0"/>
                </a:moveTo>
                <a:lnTo>
                  <a:pt x="2155401" y="0"/>
                </a:lnTo>
                <a:lnTo>
                  <a:pt x="2155401" y="5648203"/>
                </a:lnTo>
                <a:lnTo>
                  <a:pt x="0" y="5648203"/>
                </a:lnTo>
                <a:lnTo>
                  <a:pt x="0" y="0"/>
                </a:lnTo>
                <a:close/>
              </a:path>
            </a:pathLst>
          </a:custGeom>
          <a:blipFill>
            <a:blip r:embed="rId4"/>
            <a:stretch>
              <a:fillRect l="-145976" t="-11036" r="-190751" b="0"/>
            </a:stretch>
          </a:blipFill>
        </p:spPr>
      </p:sp>
      <p:sp>
        <p:nvSpPr>
          <p:cNvPr name="Freeform 11" id="11"/>
          <p:cNvSpPr/>
          <p:nvPr/>
        </p:nvSpPr>
        <p:spPr>
          <a:xfrm flipH="false" flipV="false" rot="1595541">
            <a:off x="2158372" y="827196"/>
            <a:ext cx="1988089" cy="2293948"/>
          </a:xfrm>
          <a:custGeom>
            <a:avLst/>
            <a:gdLst/>
            <a:ahLst/>
            <a:cxnLst/>
            <a:rect r="r" b="b" t="t" l="l"/>
            <a:pathLst>
              <a:path h="2293948" w="1988089">
                <a:moveTo>
                  <a:pt x="0" y="0"/>
                </a:moveTo>
                <a:lnTo>
                  <a:pt x="1988089" y="0"/>
                </a:lnTo>
                <a:lnTo>
                  <a:pt x="1988089" y="2293948"/>
                </a:lnTo>
                <a:lnTo>
                  <a:pt x="0" y="2293948"/>
                </a:lnTo>
                <a:lnTo>
                  <a:pt x="0" y="0"/>
                </a:lnTo>
                <a:close/>
              </a:path>
            </a:pathLst>
          </a:custGeom>
          <a:blipFill>
            <a:blip r:embed="rId5">
              <a:alphaModFix amt="14000"/>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true" flipV="false" rot="590801">
            <a:off x="15298582" y="199373"/>
            <a:ext cx="2528232" cy="2281729"/>
          </a:xfrm>
          <a:custGeom>
            <a:avLst/>
            <a:gdLst/>
            <a:ahLst/>
            <a:cxnLst/>
            <a:rect r="r" b="b" t="t" l="l"/>
            <a:pathLst>
              <a:path h="2281729" w="2528232">
                <a:moveTo>
                  <a:pt x="2528232" y="0"/>
                </a:moveTo>
                <a:lnTo>
                  <a:pt x="0" y="0"/>
                </a:lnTo>
                <a:lnTo>
                  <a:pt x="0" y="2281729"/>
                </a:lnTo>
                <a:lnTo>
                  <a:pt x="2528232" y="2281729"/>
                </a:lnTo>
                <a:lnTo>
                  <a:pt x="2528232"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3" id="13"/>
          <p:cNvSpPr/>
          <p:nvPr/>
        </p:nvSpPr>
        <p:spPr>
          <a:xfrm flipH="false" flipV="false" rot="-304013">
            <a:off x="165510" y="7369140"/>
            <a:ext cx="3486814" cy="2179259"/>
          </a:xfrm>
          <a:custGeom>
            <a:avLst/>
            <a:gdLst/>
            <a:ahLst/>
            <a:cxnLst/>
            <a:rect r="r" b="b" t="t" l="l"/>
            <a:pathLst>
              <a:path h="2179259" w="3486814">
                <a:moveTo>
                  <a:pt x="0" y="0"/>
                </a:moveTo>
                <a:lnTo>
                  <a:pt x="3486815" y="0"/>
                </a:lnTo>
                <a:lnTo>
                  <a:pt x="3486815" y="2179259"/>
                </a:lnTo>
                <a:lnTo>
                  <a:pt x="0" y="2179259"/>
                </a:lnTo>
                <a:lnTo>
                  <a:pt x="0" y="0"/>
                </a:lnTo>
                <a:close/>
              </a:path>
            </a:pathLst>
          </a:custGeom>
          <a:blipFill>
            <a:blip r:embed="rId9">
              <a:alphaModFix amt="14000"/>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1979683">
            <a:off x="13532795" y="4485530"/>
            <a:ext cx="3486814" cy="2179259"/>
          </a:xfrm>
          <a:custGeom>
            <a:avLst/>
            <a:gdLst/>
            <a:ahLst/>
            <a:cxnLst/>
            <a:rect r="r" b="b" t="t" l="l"/>
            <a:pathLst>
              <a:path h="2179259" w="3486814">
                <a:moveTo>
                  <a:pt x="0" y="0"/>
                </a:moveTo>
                <a:lnTo>
                  <a:pt x="3486814" y="0"/>
                </a:lnTo>
                <a:lnTo>
                  <a:pt x="3486814" y="2179259"/>
                </a:lnTo>
                <a:lnTo>
                  <a:pt x="0" y="2179259"/>
                </a:lnTo>
                <a:lnTo>
                  <a:pt x="0" y="0"/>
                </a:lnTo>
                <a:close/>
              </a:path>
            </a:pathLst>
          </a:custGeom>
          <a:blipFill>
            <a:blip r:embed="rId9">
              <a:alphaModFix amt="14000"/>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DAGr14nLZFk</dc:identifier>
  <dcterms:modified xsi:type="dcterms:W3CDTF">2011-08-01T06:04:30Z</dcterms:modified>
  <cp:revision>1</cp:revision>
  <dc:title>Blue and White Simple Social Media Analysis Animated Presentation</dc:title>
</cp:coreProperties>
</file>